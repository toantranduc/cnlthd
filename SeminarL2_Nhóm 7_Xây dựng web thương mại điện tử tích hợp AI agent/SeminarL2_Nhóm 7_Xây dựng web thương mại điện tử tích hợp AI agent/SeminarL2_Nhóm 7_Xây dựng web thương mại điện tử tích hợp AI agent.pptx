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Montserrat" panose="00000500000000000000" pitchFamily="2" charset="0"/>
      <p:regular r:id="rId33"/>
      <p:bold r:id="rId34"/>
      <p:italic r:id="rId35"/>
      <p:boldItalic r:id="rId36"/>
    </p:embeddedFont>
    <p:embeddedFont>
      <p:font typeface="Open Sans" panose="020B0606030504020204" pitchFamily="34" charset="0"/>
      <p:regular r:id="rId37"/>
      <p:bold r:id="rId38"/>
      <p:italic r:id="rId39"/>
      <p:boldItalic r:id="rId40"/>
    </p:embeddedFont>
    <p:embeddedFont>
      <p:font typeface="Open Sans Medium" panose="020B0604020202020204" charset="0"/>
      <p:regular r:id="rId41"/>
      <p:bold r:id="rId42"/>
      <p:italic r:id="rId43"/>
      <p:boldItalic r:id="rId44"/>
    </p:embeddedFont>
    <p:embeddedFont>
      <p:font typeface="Open Sans SemiBold" panose="020B0706030804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E5CF80-37C0-41F5-BB80-B17DB6ECB6CD}">
  <a:tblStyle styleId="{0FE5CF80-37C0-41F5-BB80-B17DB6ECB6C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png"/><Relationship Id="rId7"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4276725" y="976461"/>
            <a:ext cx="36385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64748B"/>
                </a:solidFill>
                <a:latin typeface="Open Sans SemiBold"/>
                <a:ea typeface="Open Sans SemiBold"/>
                <a:cs typeface="Open Sans SemiBold"/>
                <a:sym typeface="Open Sans SemiBold"/>
              </a:rPr>
              <a:t>ĐỒ ÁN CUỐI KỲ - DCT122C5</a:t>
            </a:r>
            <a:endParaRPr/>
          </a:p>
        </p:txBody>
      </p:sp>
      <p:sp>
        <p:nvSpPr>
          <p:cNvPr id="86" name="Google Shape;86;p13"/>
          <p:cNvSpPr/>
          <p:nvPr/>
        </p:nvSpPr>
        <p:spPr>
          <a:xfrm>
            <a:off x="5524500" y="2894558"/>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3338512" y="3485108"/>
            <a:ext cx="5514975"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1E40AF"/>
                </a:solidFill>
                <a:latin typeface="Open Sans Medium"/>
                <a:ea typeface="Open Sans Medium"/>
                <a:cs typeface="Open Sans Medium"/>
                <a:sym typeface="Open Sans Medium"/>
              </a:rPr>
              <a:t>Hệ thống Microservices kết hợp Tác tử AI tự chủ</a:t>
            </a:r>
            <a:endParaRPr/>
          </a:p>
        </p:txBody>
      </p:sp>
      <p:sp>
        <p:nvSpPr>
          <p:cNvPr id="88" name="Google Shape;88;p13"/>
          <p:cNvSpPr txBox="1"/>
          <p:nvPr/>
        </p:nvSpPr>
        <p:spPr>
          <a:xfrm>
            <a:off x="4205287" y="5081438"/>
            <a:ext cx="378142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Giảng viên hướng dẫn:</a:t>
            </a:r>
            <a:r>
              <a:rPr lang="en-US" sz="1500" b="0" i="0" u="none" strike="noStrike" cap="none">
                <a:solidFill>
                  <a:srgbClr val="334155"/>
                </a:solidFill>
                <a:latin typeface="Open Sans"/>
                <a:ea typeface="Open Sans"/>
                <a:cs typeface="Open Sans"/>
                <a:sym typeface="Open Sans"/>
              </a:rPr>
              <a:t> Thầy Đỗ Như Tài</a:t>
            </a:r>
            <a:endParaRPr/>
          </a:p>
        </p:txBody>
      </p:sp>
      <p:sp>
        <p:nvSpPr>
          <p:cNvPr id="89" name="Google Shape;89;p13"/>
          <p:cNvSpPr txBox="1"/>
          <p:nvPr/>
        </p:nvSpPr>
        <p:spPr>
          <a:xfrm>
            <a:off x="4205287" y="5576738"/>
            <a:ext cx="378142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Nhóm thực hiện:</a:t>
            </a:r>
            <a:r>
              <a:rPr lang="en-US" sz="1500" b="0" i="0" u="none" strike="noStrike" cap="none">
                <a:solidFill>
                  <a:srgbClr val="334155"/>
                </a:solidFill>
                <a:latin typeface="Open Sans"/>
                <a:ea typeface="Open Sans"/>
                <a:cs typeface="Open Sans"/>
                <a:sym typeface="Open Sans"/>
              </a:rPr>
              <a:t> Egawa Masao &amp; Cộng sự</a:t>
            </a:r>
            <a:endParaRPr/>
          </a:p>
        </p:txBody>
      </p:sp>
      <p:sp>
        <p:nvSpPr>
          <p:cNvPr id="90" name="Google Shape;90;p13"/>
          <p:cNvSpPr txBox="1"/>
          <p:nvPr/>
        </p:nvSpPr>
        <p:spPr>
          <a:xfrm>
            <a:off x="1630441" y="1519386"/>
            <a:ext cx="8931116" cy="108942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3900" b="1" i="0" u="none" strike="noStrike" cap="none">
                <a:solidFill>
                  <a:srgbClr val="1E3A8A"/>
                </a:solidFill>
                <a:latin typeface="Montserrat"/>
                <a:ea typeface="Montserrat"/>
                <a:cs typeface="Montserrat"/>
                <a:sym typeface="Montserrat"/>
              </a:rPr>
              <a:t>Xây dựng quy trình Agentic AI</a:t>
            </a:r>
            <a:br>
              <a:rPr lang="en-US" sz="1800" b="0" i="0" u="none" strike="noStrike" cap="none">
                <a:solidFill>
                  <a:schemeClr val="dk1"/>
                </a:solidFill>
                <a:latin typeface="Calibri"/>
                <a:ea typeface="Calibri"/>
                <a:cs typeface="Calibri"/>
                <a:sym typeface="Calibri"/>
              </a:rPr>
            </a:br>
            <a:r>
              <a:rPr lang="en-US" sz="3900" b="1" i="0" u="none" strike="noStrike" cap="none">
                <a:solidFill>
                  <a:srgbClr val="1E3A8A"/>
                </a:solidFill>
                <a:latin typeface="Montserrat"/>
                <a:ea typeface="Montserrat"/>
                <a:cs typeface="Montserrat"/>
                <a:sym typeface="Montserrat"/>
              </a:rPr>
              <a:t> cho Website Thương mại điện tử</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96" name="Google Shape;96;p14"/>
          <p:cNvGraphicFramePr/>
          <p:nvPr/>
        </p:nvGraphicFramePr>
        <p:xfrm>
          <a:off x="762000" y="2576512"/>
          <a:ext cx="3000000" cy="3000000"/>
        </p:xfrm>
        <a:graphic>
          <a:graphicData uri="http://schemas.openxmlformats.org/drawingml/2006/table">
            <a:tbl>
              <a:tblPr firstRow="1" bandRow="1">
                <a:noFill/>
                <a:tableStyleId>{0FE5CF80-37C0-41F5-BB80-B17DB6ECB6CD}</a:tableStyleId>
              </a:tblPr>
              <a:tblGrid>
                <a:gridCol w="883300">
                  <a:extLst>
                    <a:ext uri="{9D8B030D-6E8A-4147-A177-3AD203B41FA5}">
                      <a16:colId xmlns:a16="http://schemas.microsoft.com/office/drawing/2014/main" val="20000"/>
                    </a:ext>
                  </a:extLst>
                </a:gridCol>
                <a:gridCol w="3225700">
                  <a:extLst>
                    <a:ext uri="{9D8B030D-6E8A-4147-A177-3AD203B41FA5}">
                      <a16:colId xmlns:a16="http://schemas.microsoft.com/office/drawing/2014/main" val="20001"/>
                    </a:ext>
                  </a:extLst>
                </a:gridCol>
                <a:gridCol w="1739950">
                  <a:extLst>
                    <a:ext uri="{9D8B030D-6E8A-4147-A177-3AD203B41FA5}">
                      <a16:colId xmlns:a16="http://schemas.microsoft.com/office/drawing/2014/main" val="20002"/>
                    </a:ext>
                  </a:extLst>
                </a:gridCol>
                <a:gridCol w="4819050">
                  <a:extLst>
                    <a:ext uri="{9D8B030D-6E8A-4147-A177-3AD203B41FA5}">
                      <a16:colId xmlns:a16="http://schemas.microsoft.com/office/drawing/2014/main" val="20003"/>
                    </a:ext>
                  </a:extLst>
                </a:gridCol>
              </a:tblGrid>
              <a:tr h="525775">
                <a:tc>
                  <a:txBody>
                    <a:bodyPr/>
                    <a:lstStyle/>
                    <a:p>
                      <a:pPr marL="0" marR="0" lvl="0" indent="0" algn="l" rtl="0">
                        <a:spcBef>
                          <a:spcPts val="0"/>
                        </a:spcBef>
                        <a:spcAft>
                          <a:spcPts val="0"/>
                        </a:spcAft>
                        <a:buNone/>
                      </a:pPr>
                      <a:r>
                        <a:rPr lang="en-US" sz="1350" b="1" i="0" u="none" strike="noStrike" cap="none">
                          <a:solidFill>
                            <a:srgbClr val="FFFFFF"/>
                          </a:solidFill>
                          <a:latin typeface="Open Sans"/>
                          <a:ea typeface="Open Sans"/>
                          <a:cs typeface="Open Sans"/>
                          <a:sym typeface="Open Sans"/>
                        </a:rPr>
                        <a:t>STT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Open Sans"/>
                          <a:ea typeface="Open Sans"/>
                          <a:cs typeface="Open Sans"/>
                          <a:sym typeface="Open Sans"/>
                        </a:rPr>
                        <a:t>Họ và Tên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Open Sans"/>
                          <a:ea typeface="Open Sans"/>
                          <a:cs typeface="Open Sans"/>
                          <a:sym typeface="Open Sans"/>
                        </a:rPr>
                        <a:t>MSSV</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Open Sans"/>
                          <a:ea typeface="Open Sans"/>
                          <a:cs typeface="Open Sans"/>
                          <a:sym typeface="Open Sans"/>
                        </a:rPr>
                        <a:t>Vai trò / Phân công chính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25775">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1" i="0" u="none" strike="noStrike" cap="none">
                          <a:solidFill>
                            <a:srgbClr val="000000"/>
                          </a:solidFill>
                          <a:latin typeface="Open Sans"/>
                          <a:ea typeface="Open Sans"/>
                          <a:cs typeface="Open Sans"/>
                          <a:sym typeface="Open Sans"/>
                        </a:rPr>
                        <a:t>Egawa Masao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3122411122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Trưởng nhóm, Kiến trúc AI &amp; Quy trình n8n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25775">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1" i="0" u="none" strike="noStrike" cap="none">
                          <a:solidFill>
                            <a:srgbClr val="000000"/>
                          </a:solidFill>
                          <a:latin typeface="Open Sans"/>
                          <a:ea typeface="Open Sans"/>
                          <a:cs typeface="Open Sans"/>
                          <a:sym typeface="Open Sans"/>
                        </a:rPr>
                        <a:t>Lê Phạm Quốc Việt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3122411244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Phát triển Microservices &amp; API Logic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25775">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1" i="0" u="none" strike="noStrike" cap="none">
                          <a:solidFill>
                            <a:srgbClr val="000000"/>
                          </a:solidFill>
                          <a:latin typeface="Open Sans"/>
                          <a:ea typeface="Open Sans"/>
                          <a:cs typeface="Open Sans"/>
                          <a:sym typeface="Open Sans"/>
                        </a:rPr>
                        <a:t>Nguyễn Trần Trung Thạch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3122411186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Giao diện người dùng (Frontend)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25775">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1" i="0" u="none" strike="noStrike" cap="none">
                          <a:solidFill>
                            <a:srgbClr val="000000"/>
                          </a:solidFill>
                          <a:latin typeface="Open Sans"/>
                          <a:ea typeface="Open Sans"/>
                          <a:cs typeface="Open Sans"/>
                          <a:sym typeface="Open Sans"/>
                        </a:rPr>
                        <a:t>Trần Đức Toản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3122411219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000000"/>
                          </a:solidFill>
                          <a:latin typeface="Open Sans"/>
                          <a:ea typeface="Open Sans"/>
                          <a:cs typeface="Open Sans"/>
                          <a:sym typeface="Open Sans"/>
                        </a:rPr>
                        <a:t>Cơ sở dữ liệu &amp; DevOps CI/CD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97" name="Google Shape;97;p14"/>
          <p:cNvSpPr/>
          <p:nvPr/>
        </p:nvSpPr>
        <p:spPr>
          <a:xfrm>
            <a:off x="762000" y="3648075"/>
            <a:ext cx="8832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p:nvPr/>
        </p:nvSpPr>
        <p:spPr>
          <a:xfrm>
            <a:off x="1645294" y="3648075"/>
            <a:ext cx="3225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p:nvPr/>
        </p:nvSpPr>
        <p:spPr>
          <a:xfrm>
            <a:off x="4870995" y="3648075"/>
            <a:ext cx="17399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p:nvPr/>
        </p:nvSpPr>
        <p:spPr>
          <a:xfrm>
            <a:off x="6610945" y="3648075"/>
            <a:ext cx="48190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4"/>
          <p:cNvSpPr/>
          <p:nvPr/>
        </p:nvSpPr>
        <p:spPr>
          <a:xfrm>
            <a:off x="762000" y="4162425"/>
            <a:ext cx="8832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p:nvPr/>
        </p:nvSpPr>
        <p:spPr>
          <a:xfrm>
            <a:off x="1645294" y="4162425"/>
            <a:ext cx="3225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4870995" y="4162425"/>
            <a:ext cx="17399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6610945" y="4162425"/>
            <a:ext cx="48190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4"/>
          <p:cNvSpPr/>
          <p:nvPr/>
        </p:nvSpPr>
        <p:spPr>
          <a:xfrm>
            <a:off x="762000" y="4676775"/>
            <a:ext cx="8832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p:nvPr/>
        </p:nvSpPr>
        <p:spPr>
          <a:xfrm>
            <a:off x="1645294" y="4676775"/>
            <a:ext cx="3225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4"/>
          <p:cNvSpPr/>
          <p:nvPr/>
        </p:nvSpPr>
        <p:spPr>
          <a:xfrm>
            <a:off x="4870995" y="4676775"/>
            <a:ext cx="17399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p:nvPr/>
        </p:nvSpPr>
        <p:spPr>
          <a:xfrm>
            <a:off x="6610945" y="4676775"/>
            <a:ext cx="48190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4"/>
          <p:cNvSpPr/>
          <p:nvPr/>
        </p:nvSpPr>
        <p:spPr>
          <a:xfrm>
            <a:off x="762000" y="5191125"/>
            <a:ext cx="8832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4"/>
          <p:cNvSpPr/>
          <p:nvPr/>
        </p:nvSpPr>
        <p:spPr>
          <a:xfrm>
            <a:off x="1645294" y="5191125"/>
            <a:ext cx="32257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4"/>
          <p:cNvSpPr/>
          <p:nvPr/>
        </p:nvSpPr>
        <p:spPr>
          <a:xfrm>
            <a:off x="4870995" y="5191125"/>
            <a:ext cx="173994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4"/>
          <p:cNvSpPr/>
          <p:nvPr/>
        </p:nvSpPr>
        <p:spPr>
          <a:xfrm>
            <a:off x="6610945" y="5191125"/>
            <a:ext cx="481905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4"/>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THÀNH VIÊN THỰC HIỆN ĐỀ TÀI</a:t>
            </a:r>
            <a:endParaRPr/>
          </a:p>
        </p:txBody>
      </p:sp>
      <p:sp>
        <p:nvSpPr>
          <p:cNvPr id="114" name="Google Shape;114;p14"/>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8"/>
        <p:cNvGrpSpPr/>
        <p:nvPr/>
      </p:nvGrpSpPr>
      <p:grpSpPr>
        <a:xfrm>
          <a:off x="0" y="0"/>
          <a:ext cx="0" cy="0"/>
          <a:chOff x="0" y="0"/>
          <a:chExt cx="0" cy="0"/>
        </a:xfrm>
      </p:grpSpPr>
      <p:pic>
        <p:nvPicPr>
          <p:cNvPr id="119" name="Google Shape;11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0" name="Google Shape;120;p15" descr="image.png"/>
          <p:cNvPicPr preferRelativeResize="0"/>
          <p:nvPr/>
        </p:nvPicPr>
        <p:blipFill rotWithShape="1">
          <a:blip r:embed="rId4">
            <a:alphaModFix/>
          </a:blip>
          <a:srcRect/>
          <a:stretch/>
        </p:blipFill>
        <p:spPr>
          <a:xfrm>
            <a:off x="762000" y="2295525"/>
            <a:ext cx="5095875" cy="3095625"/>
          </a:xfrm>
          <a:prstGeom prst="rect">
            <a:avLst/>
          </a:prstGeom>
          <a:noFill/>
          <a:ln>
            <a:noFill/>
          </a:ln>
        </p:spPr>
      </p:pic>
      <p:pic>
        <p:nvPicPr>
          <p:cNvPr id="121" name="Google Shape;121;p15" descr="image.png"/>
          <p:cNvPicPr preferRelativeResize="0"/>
          <p:nvPr/>
        </p:nvPicPr>
        <p:blipFill rotWithShape="1">
          <a:blip r:embed="rId5">
            <a:alphaModFix/>
          </a:blip>
          <a:srcRect/>
          <a:stretch/>
        </p:blipFill>
        <p:spPr>
          <a:xfrm>
            <a:off x="6334125" y="2295525"/>
            <a:ext cx="5095875" cy="2790825"/>
          </a:xfrm>
          <a:prstGeom prst="rect">
            <a:avLst/>
          </a:prstGeom>
          <a:noFill/>
          <a:ln>
            <a:noFill/>
          </a:ln>
        </p:spPr>
      </p:pic>
      <p:sp>
        <p:nvSpPr>
          <p:cNvPr id="122" name="Google Shape;122;p15"/>
          <p:cNvSpPr txBox="1"/>
          <p:nvPr/>
        </p:nvSpPr>
        <p:spPr>
          <a:xfrm>
            <a:off x="1057275" y="3686175"/>
            <a:ext cx="450532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Khách hàng yêu cầu sự hỗ trợ nhanh chóng và cá nhân hóa. Tuy nhiên, các hệ thống cũ thường dùng Chatbot kịch bản tĩnh, gây khó khăn khi tư vấn chuyên sâu.</a:t>
            </a:r>
            <a:endParaRPr/>
          </a:p>
        </p:txBody>
      </p:sp>
      <p:sp>
        <p:nvSpPr>
          <p:cNvPr id="123" name="Google Shape;123;p15"/>
          <p:cNvSpPr txBox="1"/>
          <p:nvPr/>
        </p:nvSpPr>
        <p:spPr>
          <a:xfrm>
            <a:off x="6629400" y="3686175"/>
            <a:ext cx="45053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Sử dụng </a:t>
            </a:r>
            <a:r>
              <a:rPr lang="en-US" sz="1500" b="1" i="0" u="none" strike="noStrike" cap="none">
                <a:solidFill>
                  <a:srgbClr val="334155"/>
                </a:solidFill>
                <a:latin typeface="Open Sans"/>
                <a:ea typeface="Open Sans"/>
                <a:cs typeface="Open Sans"/>
                <a:sym typeface="Open Sans"/>
              </a:rPr>
              <a:t>Agentic AI</a:t>
            </a:r>
            <a:r>
              <a:rPr lang="en-US" sz="1500" b="0" i="0" u="none" strike="noStrike" cap="none">
                <a:solidFill>
                  <a:srgbClr val="334155"/>
                </a:solidFill>
                <a:latin typeface="Open Sans"/>
                <a:ea typeface="Open Sans"/>
                <a:cs typeface="Open Sans"/>
                <a:sym typeface="Open Sans"/>
              </a:rPr>
              <a:t> để tạo ra các tác tử có khả năng tự lập kế hoạch, truy cập dữ liệu thực tế và hỗ trợ người dùng như một trợ lý thực thụ.</a:t>
            </a:r>
            <a:endParaRPr/>
          </a:p>
        </p:txBody>
      </p:sp>
      <p:pic>
        <p:nvPicPr>
          <p:cNvPr id="124" name="Google Shape;124;p15" descr="image.png"/>
          <p:cNvPicPr preferRelativeResize="0"/>
          <p:nvPr/>
        </p:nvPicPr>
        <p:blipFill rotWithShape="1">
          <a:blip r:embed="rId6">
            <a:alphaModFix/>
          </a:blip>
          <a:srcRect/>
          <a:stretch/>
        </p:blipFill>
        <p:spPr>
          <a:xfrm>
            <a:off x="1057275" y="2705100"/>
            <a:ext cx="333375" cy="333375"/>
          </a:xfrm>
          <a:prstGeom prst="rect">
            <a:avLst/>
          </a:prstGeom>
          <a:noFill/>
          <a:ln>
            <a:noFill/>
          </a:ln>
        </p:spPr>
      </p:pic>
      <p:pic>
        <p:nvPicPr>
          <p:cNvPr id="125" name="Google Shape;125;p15" descr="image.png"/>
          <p:cNvPicPr preferRelativeResize="0"/>
          <p:nvPr/>
        </p:nvPicPr>
        <p:blipFill rotWithShape="1">
          <a:blip r:embed="rId7">
            <a:alphaModFix/>
          </a:blip>
          <a:srcRect/>
          <a:stretch/>
        </p:blipFill>
        <p:spPr>
          <a:xfrm>
            <a:off x="6629400" y="2705100"/>
            <a:ext cx="333375" cy="333375"/>
          </a:xfrm>
          <a:prstGeom prst="rect">
            <a:avLst/>
          </a:prstGeom>
          <a:noFill/>
          <a:ln>
            <a:noFill/>
          </a:ln>
        </p:spPr>
      </p:pic>
      <p:sp>
        <p:nvSpPr>
          <p:cNvPr id="126" name="Google Shape;126;p15"/>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1.1. LÝ DO CHỌN ĐỀ TÀI</a:t>
            </a:r>
            <a:endParaRPr/>
          </a:p>
        </p:txBody>
      </p:sp>
      <p:sp>
        <p:nvSpPr>
          <p:cNvPr id="127" name="Google Shape;127;p15"/>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5"/>
          <p:cNvSpPr txBox="1"/>
          <p:nvPr/>
        </p:nvSpPr>
        <p:spPr>
          <a:xfrm>
            <a:off x="1057275" y="3276600"/>
            <a:ext cx="473059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Thực trạng TMĐT</a:t>
            </a:r>
            <a:endParaRPr/>
          </a:p>
        </p:txBody>
      </p:sp>
      <p:sp>
        <p:nvSpPr>
          <p:cNvPr id="129" name="Google Shape;129;p15"/>
          <p:cNvSpPr txBox="1"/>
          <p:nvPr/>
        </p:nvSpPr>
        <p:spPr>
          <a:xfrm>
            <a:off x="6629400" y="3276600"/>
            <a:ext cx="473059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Giải pháp đột phá</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pic>
        <p:nvPicPr>
          <p:cNvPr id="134" name="Google Shape;13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5" name="Google Shape;135;p16"/>
          <p:cNvSpPr/>
          <p:nvPr/>
        </p:nvSpPr>
        <p:spPr>
          <a:xfrm>
            <a:off x="5524500" y="2843212"/>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6"/>
          <p:cNvSpPr txBox="1"/>
          <p:nvPr/>
        </p:nvSpPr>
        <p:spPr>
          <a:xfrm>
            <a:off x="3945731" y="3186112"/>
            <a:ext cx="4300537"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1E3A8A"/>
                </a:solidFill>
                <a:latin typeface="Montserrat"/>
                <a:ea typeface="Montserrat"/>
                <a:cs typeface="Montserrat"/>
                <a:sym typeface="Montserrat"/>
              </a:rPr>
              <a:t>CHƯƠNG I</a:t>
            </a:r>
            <a:endParaRPr/>
          </a:p>
        </p:txBody>
      </p:sp>
      <p:sp>
        <p:nvSpPr>
          <p:cNvPr id="137" name="Google Shape;137;p16"/>
          <p:cNvSpPr txBox="1"/>
          <p:nvPr/>
        </p:nvSpPr>
        <p:spPr>
          <a:xfrm>
            <a:off x="3675697" y="4024312"/>
            <a:ext cx="484060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64748B"/>
                </a:solidFill>
                <a:latin typeface="Montserrat"/>
                <a:ea typeface="Montserrat"/>
                <a:cs typeface="Montserrat"/>
                <a:sym typeface="Montserrat"/>
              </a:rPr>
              <a:t>KIẾN TRÚC HỆ THỐNG MICROSERVICES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1"/>
        <p:cNvGrpSpPr/>
        <p:nvPr/>
      </p:nvGrpSpPr>
      <p:grpSpPr>
        <a:xfrm>
          <a:off x="0" y="0"/>
          <a:ext cx="0" cy="0"/>
          <a:chOff x="0" y="0"/>
          <a:chExt cx="0" cy="0"/>
        </a:xfrm>
      </p:grpSpPr>
      <p:pic>
        <p:nvPicPr>
          <p:cNvPr id="142" name="Google Shape;14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3" name="Google Shape;143;p17" descr="image.png"/>
          <p:cNvPicPr preferRelativeResize="0"/>
          <p:nvPr/>
        </p:nvPicPr>
        <p:blipFill rotWithShape="1">
          <a:blip r:embed="rId4">
            <a:alphaModFix/>
          </a:blip>
          <a:srcRect/>
          <a:stretch/>
        </p:blipFill>
        <p:spPr>
          <a:xfrm>
            <a:off x="6334125" y="2343150"/>
            <a:ext cx="5095875" cy="2926940"/>
          </a:xfrm>
          <a:prstGeom prst="rect">
            <a:avLst/>
          </a:prstGeom>
          <a:noFill/>
          <a:ln>
            <a:noFill/>
          </a:ln>
        </p:spPr>
      </p:pic>
      <p:sp>
        <p:nvSpPr>
          <p:cNvPr id="144" name="Google Shape;144;p17"/>
          <p:cNvSpPr txBox="1"/>
          <p:nvPr/>
        </p:nvSpPr>
        <p:spPr>
          <a:xfrm>
            <a:off x="762000" y="2533650"/>
            <a:ext cx="5095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Website được xây dựng theo mô hình dịch vụ nhỏ giúp:</a:t>
            </a:r>
            <a:endParaRPr/>
          </a:p>
        </p:txBody>
      </p:sp>
      <p:sp>
        <p:nvSpPr>
          <p:cNvPr id="145" name="Google Shape;145;p17"/>
          <p:cNvSpPr txBox="1"/>
          <p:nvPr/>
        </p:nvSpPr>
        <p:spPr>
          <a:xfrm>
            <a:off x="7486650" y="3191916"/>
            <a:ext cx="2790825" cy="731341"/>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1" i="0" u="none" strike="noStrike" cap="none">
                <a:solidFill>
                  <a:srgbClr val="1E40AF"/>
                </a:solidFill>
                <a:latin typeface="Open Sans"/>
                <a:ea typeface="Open Sans"/>
                <a:cs typeface="Open Sans"/>
                <a:sym typeface="Open Sans"/>
              </a:rPr>
              <a:t>Giao tiếp liên dịch vụ qua</a:t>
            </a:r>
            <a:br>
              <a:rPr lang="en-US" sz="1800" b="0" i="0" u="none" strike="noStrike" cap="none">
                <a:solidFill>
                  <a:schemeClr val="dk1"/>
                </a:solidFill>
                <a:latin typeface="Calibri"/>
                <a:ea typeface="Calibri"/>
                <a:cs typeface="Calibri"/>
                <a:sym typeface="Calibri"/>
              </a:rPr>
            </a:br>
            <a:r>
              <a:rPr lang="en-US" sz="1800" b="1" i="0" u="none" strike="noStrike" cap="none">
                <a:solidFill>
                  <a:srgbClr val="1E40AF"/>
                </a:solidFill>
                <a:latin typeface="Open Sans"/>
                <a:ea typeface="Open Sans"/>
                <a:cs typeface="Open Sans"/>
                <a:sym typeface="Open Sans"/>
              </a:rPr>
              <a:t> REST API &amp; Apache Kafka</a:t>
            </a:r>
            <a:endParaRPr/>
          </a:p>
        </p:txBody>
      </p:sp>
      <p:sp>
        <p:nvSpPr>
          <p:cNvPr id="146" name="Google Shape;146;p17"/>
          <p:cNvSpPr txBox="1"/>
          <p:nvPr/>
        </p:nvSpPr>
        <p:spPr>
          <a:xfrm>
            <a:off x="1066800" y="3076575"/>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147" name="Google Shape;147;p17"/>
          <p:cNvSpPr txBox="1"/>
          <p:nvPr/>
        </p:nvSpPr>
        <p:spPr>
          <a:xfrm>
            <a:off x="1143000" y="3076575"/>
            <a:ext cx="4714875" cy="6096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Mở rộng linh hoạt:</a:t>
            </a:r>
            <a:r>
              <a:rPr lang="en-US" sz="1500" b="0" i="0" u="none" strike="noStrike" cap="none">
                <a:solidFill>
                  <a:srgbClr val="334155"/>
                </a:solidFill>
                <a:latin typeface="Open Sans"/>
                <a:ea typeface="Open Sans"/>
                <a:cs typeface="Open Sans"/>
                <a:sym typeface="Open Sans"/>
              </a:rPr>
              <a:t> Nâng cấp độc lập từng thành phần.</a:t>
            </a:r>
            <a:endParaRPr/>
          </a:p>
        </p:txBody>
      </p:sp>
      <p:sp>
        <p:nvSpPr>
          <p:cNvPr id="148" name="Google Shape;148;p17"/>
          <p:cNvSpPr txBox="1"/>
          <p:nvPr/>
        </p:nvSpPr>
        <p:spPr>
          <a:xfrm>
            <a:off x="1066800" y="3829050"/>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149" name="Google Shape;149;p17"/>
          <p:cNvSpPr txBox="1"/>
          <p:nvPr/>
        </p:nvSpPr>
        <p:spPr>
          <a:xfrm>
            <a:off x="1143000" y="3829050"/>
            <a:ext cx="4714875" cy="6096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Cô lập lỗi:</a:t>
            </a:r>
            <a:r>
              <a:rPr lang="en-US" sz="1500" b="0" i="0" u="none" strike="noStrike" cap="none">
                <a:solidFill>
                  <a:srgbClr val="334155"/>
                </a:solidFill>
                <a:latin typeface="Open Sans"/>
                <a:ea typeface="Open Sans"/>
                <a:cs typeface="Open Sans"/>
                <a:sym typeface="Open Sans"/>
              </a:rPr>
              <a:t> Một dịch vụ gặp sự cố không ảnh hưởng đến toàn hệ thống.</a:t>
            </a:r>
            <a:endParaRPr/>
          </a:p>
        </p:txBody>
      </p:sp>
      <p:sp>
        <p:nvSpPr>
          <p:cNvPr id="150" name="Google Shape;150;p17"/>
          <p:cNvSpPr txBox="1"/>
          <p:nvPr/>
        </p:nvSpPr>
        <p:spPr>
          <a:xfrm>
            <a:off x="1066800" y="4581525"/>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151" name="Google Shape;151;p17"/>
          <p:cNvSpPr txBox="1"/>
          <p:nvPr/>
        </p:nvSpPr>
        <p:spPr>
          <a:xfrm>
            <a:off x="1143000" y="4581525"/>
            <a:ext cx="4714875" cy="6096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Dữ liệu riêng biệt:</a:t>
            </a:r>
            <a:r>
              <a:rPr lang="en-US" sz="1500" b="0" i="0" u="none" strike="noStrike" cap="none">
                <a:solidFill>
                  <a:srgbClr val="334155"/>
                </a:solidFill>
                <a:latin typeface="Open Sans"/>
                <a:ea typeface="Open Sans"/>
                <a:cs typeface="Open Sans"/>
                <a:sym typeface="Open Sans"/>
              </a:rPr>
              <a:t> Áp dụng mô hình Database per Service.</a:t>
            </a:r>
            <a:endParaRPr/>
          </a:p>
        </p:txBody>
      </p:sp>
      <p:sp>
        <p:nvSpPr>
          <p:cNvPr id="152" name="Google Shape;152;p17"/>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TỔNG QUAN KIẾN TRÚC MICROSERVICES</a:t>
            </a:r>
            <a:endParaRPr/>
          </a:p>
        </p:txBody>
      </p:sp>
      <p:sp>
        <p:nvSpPr>
          <p:cNvPr id="153" name="Google Shape;153;p17"/>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
        <p:cNvGrpSpPr/>
        <p:nvPr/>
      </p:nvGrpSpPr>
      <p:grpSpPr>
        <a:xfrm>
          <a:off x="0" y="0"/>
          <a:ext cx="0" cy="0"/>
          <a:chOff x="0" y="0"/>
          <a:chExt cx="0" cy="0"/>
        </a:xfrm>
      </p:grpSpPr>
      <p:pic>
        <p:nvPicPr>
          <p:cNvPr id="158" name="Google Shape;15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9" name="Google Shape;159;p18" descr="image.png"/>
          <p:cNvPicPr preferRelativeResize="0"/>
          <p:nvPr/>
        </p:nvPicPr>
        <p:blipFill rotWithShape="1">
          <a:blip r:embed="rId4">
            <a:alphaModFix/>
          </a:blip>
          <a:srcRect/>
          <a:stretch/>
        </p:blipFill>
        <p:spPr>
          <a:xfrm>
            <a:off x="762000" y="2519362"/>
            <a:ext cx="3365450" cy="2647950"/>
          </a:xfrm>
          <a:prstGeom prst="rect">
            <a:avLst/>
          </a:prstGeom>
          <a:noFill/>
          <a:ln>
            <a:noFill/>
          </a:ln>
        </p:spPr>
      </p:pic>
      <p:pic>
        <p:nvPicPr>
          <p:cNvPr id="160" name="Google Shape;160;p18" descr="image.png"/>
          <p:cNvPicPr preferRelativeResize="0"/>
          <p:nvPr/>
        </p:nvPicPr>
        <p:blipFill rotWithShape="1">
          <a:blip r:embed="rId5">
            <a:alphaModFix/>
          </a:blip>
          <a:srcRect/>
          <a:stretch/>
        </p:blipFill>
        <p:spPr>
          <a:xfrm>
            <a:off x="4413200" y="2519362"/>
            <a:ext cx="3365450" cy="2647950"/>
          </a:xfrm>
          <a:prstGeom prst="rect">
            <a:avLst/>
          </a:prstGeom>
          <a:noFill/>
          <a:ln>
            <a:noFill/>
          </a:ln>
        </p:spPr>
      </p:pic>
      <p:pic>
        <p:nvPicPr>
          <p:cNvPr id="161" name="Google Shape;161;p18" descr="image.png"/>
          <p:cNvPicPr preferRelativeResize="0"/>
          <p:nvPr/>
        </p:nvPicPr>
        <p:blipFill rotWithShape="1">
          <a:blip r:embed="rId6">
            <a:alphaModFix/>
          </a:blip>
          <a:srcRect/>
          <a:stretch/>
        </p:blipFill>
        <p:spPr>
          <a:xfrm>
            <a:off x="8064400" y="2519362"/>
            <a:ext cx="3365599" cy="2647950"/>
          </a:xfrm>
          <a:prstGeom prst="rect">
            <a:avLst/>
          </a:prstGeom>
          <a:noFill/>
          <a:ln>
            <a:noFill/>
          </a:ln>
        </p:spPr>
      </p:pic>
      <p:sp>
        <p:nvSpPr>
          <p:cNvPr id="162" name="Google Shape;162;p18"/>
          <p:cNvSpPr txBox="1"/>
          <p:nvPr/>
        </p:nvSpPr>
        <p:spPr>
          <a:xfrm>
            <a:off x="1009650" y="3814762"/>
            <a:ext cx="28701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Quản lý người dùng, phân quyền ADMIN/CUSTOMER và xác thực an toàn bằng JWT.</a:t>
            </a:r>
            <a:endParaRPr/>
          </a:p>
        </p:txBody>
      </p:sp>
      <p:sp>
        <p:nvSpPr>
          <p:cNvPr id="163" name="Google Shape;163;p18"/>
          <p:cNvSpPr txBox="1"/>
          <p:nvPr/>
        </p:nvSpPr>
        <p:spPr>
          <a:xfrm>
            <a:off x="4660850" y="3814762"/>
            <a:ext cx="28701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Quản lý thông tin sản phẩm, danh mục và các biến thể về kích cỡ, màu sắc.</a:t>
            </a:r>
            <a:endParaRPr/>
          </a:p>
        </p:txBody>
      </p:sp>
      <p:sp>
        <p:nvSpPr>
          <p:cNvPr id="164" name="Google Shape;164;p18"/>
          <p:cNvSpPr txBox="1"/>
          <p:nvPr/>
        </p:nvSpPr>
        <p:spPr>
          <a:xfrm>
            <a:off x="8312050" y="3814762"/>
            <a:ext cx="287029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Kiểm soát kho bãi, cập nhật số lượng SKU và lưu nhật ký xuất nhập kho.</a:t>
            </a:r>
            <a:endParaRPr/>
          </a:p>
        </p:txBody>
      </p:sp>
      <p:pic>
        <p:nvPicPr>
          <p:cNvPr id="165" name="Google Shape;165;p18" descr="image.png"/>
          <p:cNvPicPr preferRelativeResize="0"/>
          <p:nvPr/>
        </p:nvPicPr>
        <p:blipFill rotWithShape="1">
          <a:blip r:embed="rId7">
            <a:alphaModFix/>
          </a:blip>
          <a:srcRect/>
          <a:stretch/>
        </p:blipFill>
        <p:spPr>
          <a:xfrm>
            <a:off x="1009650" y="2833687"/>
            <a:ext cx="371475" cy="333375"/>
          </a:xfrm>
          <a:prstGeom prst="rect">
            <a:avLst/>
          </a:prstGeom>
          <a:noFill/>
          <a:ln>
            <a:noFill/>
          </a:ln>
        </p:spPr>
      </p:pic>
      <p:pic>
        <p:nvPicPr>
          <p:cNvPr id="166" name="Google Shape;166;p18" descr="image.png"/>
          <p:cNvPicPr preferRelativeResize="0"/>
          <p:nvPr/>
        </p:nvPicPr>
        <p:blipFill rotWithShape="1">
          <a:blip r:embed="rId8">
            <a:alphaModFix/>
          </a:blip>
          <a:srcRect/>
          <a:stretch/>
        </p:blipFill>
        <p:spPr>
          <a:xfrm>
            <a:off x="4660850" y="2833687"/>
            <a:ext cx="333375" cy="333375"/>
          </a:xfrm>
          <a:prstGeom prst="rect">
            <a:avLst/>
          </a:prstGeom>
          <a:noFill/>
          <a:ln>
            <a:noFill/>
          </a:ln>
        </p:spPr>
      </p:pic>
      <p:pic>
        <p:nvPicPr>
          <p:cNvPr id="167" name="Google Shape;167;p18" descr="image.png"/>
          <p:cNvPicPr preferRelativeResize="0"/>
          <p:nvPr/>
        </p:nvPicPr>
        <p:blipFill rotWithShape="1">
          <a:blip r:embed="rId9">
            <a:alphaModFix/>
          </a:blip>
          <a:srcRect/>
          <a:stretch/>
        </p:blipFill>
        <p:spPr>
          <a:xfrm>
            <a:off x="8312050" y="2833687"/>
            <a:ext cx="371475" cy="333375"/>
          </a:xfrm>
          <a:prstGeom prst="rect">
            <a:avLst/>
          </a:prstGeom>
          <a:noFill/>
          <a:ln>
            <a:noFill/>
          </a:ln>
        </p:spPr>
      </p:pic>
      <p:sp>
        <p:nvSpPr>
          <p:cNvPr id="168" name="Google Shape;168;p18"/>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CHI TIẾT CÁC DỊCH VỤ LÕI (PHẦN 1)</a:t>
            </a:r>
            <a:endParaRPr/>
          </a:p>
        </p:txBody>
      </p:sp>
      <p:sp>
        <p:nvSpPr>
          <p:cNvPr id="169" name="Google Shape;169;p18"/>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8"/>
          <p:cNvSpPr txBox="1"/>
          <p:nvPr/>
        </p:nvSpPr>
        <p:spPr>
          <a:xfrm>
            <a:off x="1009650" y="3405187"/>
            <a:ext cx="301365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User Service</a:t>
            </a:r>
            <a:endParaRPr/>
          </a:p>
        </p:txBody>
      </p:sp>
      <p:sp>
        <p:nvSpPr>
          <p:cNvPr id="171" name="Google Shape;171;p18"/>
          <p:cNvSpPr txBox="1"/>
          <p:nvPr/>
        </p:nvSpPr>
        <p:spPr>
          <a:xfrm>
            <a:off x="4660850" y="3405187"/>
            <a:ext cx="301365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Product Service</a:t>
            </a:r>
            <a:endParaRPr/>
          </a:p>
        </p:txBody>
      </p:sp>
      <p:sp>
        <p:nvSpPr>
          <p:cNvPr id="172" name="Google Shape;172;p18"/>
          <p:cNvSpPr txBox="1"/>
          <p:nvPr/>
        </p:nvSpPr>
        <p:spPr>
          <a:xfrm>
            <a:off x="8312050" y="3405187"/>
            <a:ext cx="3013814"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Inventory Service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8" name="Google Shape;178;p19" descr="image.png"/>
          <p:cNvPicPr preferRelativeResize="0"/>
          <p:nvPr/>
        </p:nvPicPr>
        <p:blipFill rotWithShape="1">
          <a:blip r:embed="rId4">
            <a:alphaModFix/>
          </a:blip>
          <a:srcRect/>
          <a:stretch/>
        </p:blipFill>
        <p:spPr>
          <a:xfrm>
            <a:off x="762000" y="2509837"/>
            <a:ext cx="3365450" cy="2667000"/>
          </a:xfrm>
          <a:prstGeom prst="rect">
            <a:avLst/>
          </a:prstGeom>
          <a:noFill/>
          <a:ln>
            <a:noFill/>
          </a:ln>
        </p:spPr>
      </p:pic>
      <p:pic>
        <p:nvPicPr>
          <p:cNvPr id="179" name="Google Shape;179;p19" descr="image.png"/>
          <p:cNvPicPr preferRelativeResize="0"/>
          <p:nvPr/>
        </p:nvPicPr>
        <p:blipFill rotWithShape="1">
          <a:blip r:embed="rId5">
            <a:alphaModFix/>
          </a:blip>
          <a:srcRect/>
          <a:stretch/>
        </p:blipFill>
        <p:spPr>
          <a:xfrm>
            <a:off x="4413200" y="2509837"/>
            <a:ext cx="3365450" cy="2667000"/>
          </a:xfrm>
          <a:prstGeom prst="rect">
            <a:avLst/>
          </a:prstGeom>
          <a:noFill/>
          <a:ln>
            <a:noFill/>
          </a:ln>
        </p:spPr>
      </p:pic>
      <p:pic>
        <p:nvPicPr>
          <p:cNvPr id="180" name="Google Shape;180;p19" descr="image.png"/>
          <p:cNvPicPr preferRelativeResize="0"/>
          <p:nvPr/>
        </p:nvPicPr>
        <p:blipFill rotWithShape="1">
          <a:blip r:embed="rId6">
            <a:alphaModFix/>
          </a:blip>
          <a:srcRect/>
          <a:stretch/>
        </p:blipFill>
        <p:spPr>
          <a:xfrm>
            <a:off x="8064400" y="2509837"/>
            <a:ext cx="3365599" cy="2667000"/>
          </a:xfrm>
          <a:prstGeom prst="rect">
            <a:avLst/>
          </a:prstGeom>
          <a:noFill/>
          <a:ln>
            <a:noFill/>
          </a:ln>
        </p:spPr>
      </p:pic>
      <p:sp>
        <p:nvSpPr>
          <p:cNvPr id="181" name="Google Shape;181;p19"/>
          <p:cNvSpPr txBox="1"/>
          <p:nvPr/>
        </p:nvSpPr>
        <p:spPr>
          <a:xfrm>
            <a:off x="1009650" y="3805237"/>
            <a:ext cx="28701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Xử lý đơn hàng, giỏ hàng và tích hợp quy trình thanh toán cho người dùng.</a:t>
            </a:r>
            <a:endParaRPr/>
          </a:p>
        </p:txBody>
      </p:sp>
      <p:sp>
        <p:nvSpPr>
          <p:cNvPr id="182" name="Google Shape;182;p19"/>
          <p:cNvSpPr txBox="1"/>
          <p:nvPr/>
        </p:nvSpPr>
        <p:spPr>
          <a:xfrm>
            <a:off x="4660850" y="3805237"/>
            <a:ext cx="28701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Xử lý gửi email xác nhận đơn hàng tự động thông qua sự kiện từ Kafka.</a:t>
            </a:r>
            <a:endParaRPr/>
          </a:p>
        </p:txBody>
      </p:sp>
      <p:sp>
        <p:nvSpPr>
          <p:cNvPr id="183" name="Google Shape;183;p19"/>
          <p:cNvSpPr txBox="1"/>
          <p:nvPr/>
        </p:nvSpPr>
        <p:spPr>
          <a:xfrm>
            <a:off x="8321575" y="3814762"/>
            <a:ext cx="285124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Cung cấp giao diện tương tác và quản lý lịch sử hội thoại của người dùng với AI.</a:t>
            </a:r>
            <a:endParaRPr/>
          </a:p>
        </p:txBody>
      </p:sp>
      <p:pic>
        <p:nvPicPr>
          <p:cNvPr id="184" name="Google Shape;184;p19" descr="image.png"/>
          <p:cNvPicPr preferRelativeResize="0"/>
          <p:nvPr/>
        </p:nvPicPr>
        <p:blipFill rotWithShape="1">
          <a:blip r:embed="rId7">
            <a:alphaModFix/>
          </a:blip>
          <a:srcRect/>
          <a:stretch/>
        </p:blipFill>
        <p:spPr>
          <a:xfrm>
            <a:off x="1009650" y="2824162"/>
            <a:ext cx="371475" cy="333375"/>
          </a:xfrm>
          <a:prstGeom prst="rect">
            <a:avLst/>
          </a:prstGeom>
          <a:noFill/>
          <a:ln>
            <a:noFill/>
          </a:ln>
        </p:spPr>
      </p:pic>
      <p:pic>
        <p:nvPicPr>
          <p:cNvPr id="185" name="Google Shape;185;p19" descr="image.png"/>
          <p:cNvPicPr preferRelativeResize="0"/>
          <p:nvPr/>
        </p:nvPicPr>
        <p:blipFill rotWithShape="1">
          <a:blip r:embed="rId8">
            <a:alphaModFix/>
          </a:blip>
          <a:srcRect/>
          <a:stretch/>
        </p:blipFill>
        <p:spPr>
          <a:xfrm>
            <a:off x="4660850" y="2824162"/>
            <a:ext cx="333375" cy="333375"/>
          </a:xfrm>
          <a:prstGeom prst="rect">
            <a:avLst/>
          </a:prstGeom>
          <a:noFill/>
          <a:ln>
            <a:noFill/>
          </a:ln>
        </p:spPr>
      </p:pic>
      <p:pic>
        <p:nvPicPr>
          <p:cNvPr id="186" name="Google Shape;186;p19" descr="image.png"/>
          <p:cNvPicPr preferRelativeResize="0"/>
          <p:nvPr/>
        </p:nvPicPr>
        <p:blipFill rotWithShape="1">
          <a:blip r:embed="rId9">
            <a:alphaModFix/>
          </a:blip>
          <a:srcRect/>
          <a:stretch/>
        </p:blipFill>
        <p:spPr>
          <a:xfrm>
            <a:off x="8321575" y="2833687"/>
            <a:ext cx="419100" cy="333375"/>
          </a:xfrm>
          <a:prstGeom prst="rect">
            <a:avLst/>
          </a:prstGeom>
          <a:noFill/>
          <a:ln>
            <a:noFill/>
          </a:ln>
        </p:spPr>
      </p:pic>
      <p:sp>
        <p:nvSpPr>
          <p:cNvPr id="187" name="Google Shape;187;p19"/>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CHI TIẾT CÁC DỊCH VỤ LÕI (PHẦN 2)</a:t>
            </a:r>
            <a:endParaRPr/>
          </a:p>
        </p:txBody>
      </p:sp>
      <p:sp>
        <p:nvSpPr>
          <p:cNvPr id="188" name="Google Shape;188;p19"/>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9"/>
          <p:cNvSpPr txBox="1"/>
          <p:nvPr/>
        </p:nvSpPr>
        <p:spPr>
          <a:xfrm>
            <a:off x="1009650" y="3395662"/>
            <a:ext cx="301365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Order Service</a:t>
            </a:r>
            <a:endParaRPr/>
          </a:p>
        </p:txBody>
      </p:sp>
      <p:sp>
        <p:nvSpPr>
          <p:cNvPr id="190" name="Google Shape;190;p19"/>
          <p:cNvSpPr txBox="1"/>
          <p:nvPr/>
        </p:nvSpPr>
        <p:spPr>
          <a:xfrm>
            <a:off x="4660850" y="3395662"/>
            <a:ext cx="301365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Notification Service</a:t>
            </a:r>
            <a:endParaRPr/>
          </a:p>
        </p:txBody>
      </p:sp>
      <p:sp>
        <p:nvSpPr>
          <p:cNvPr id="191" name="Google Shape;191;p19"/>
          <p:cNvSpPr txBox="1"/>
          <p:nvPr/>
        </p:nvSpPr>
        <p:spPr>
          <a:xfrm>
            <a:off x="8321575" y="3405187"/>
            <a:ext cx="299381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Chatbot Service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pic>
        <p:nvPicPr>
          <p:cNvPr id="196" name="Google Shape;196;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7" name="Google Shape;197;p20" descr="image.png"/>
          <p:cNvPicPr preferRelativeResize="0"/>
          <p:nvPr/>
        </p:nvPicPr>
        <p:blipFill rotWithShape="1">
          <a:blip r:embed="rId4">
            <a:alphaModFix/>
          </a:blip>
          <a:srcRect/>
          <a:stretch/>
        </p:blipFill>
        <p:spPr>
          <a:xfrm>
            <a:off x="762000" y="2990850"/>
            <a:ext cx="5095875" cy="1704975"/>
          </a:xfrm>
          <a:prstGeom prst="rect">
            <a:avLst/>
          </a:prstGeom>
          <a:noFill/>
          <a:ln>
            <a:noFill/>
          </a:ln>
        </p:spPr>
      </p:pic>
      <p:pic>
        <p:nvPicPr>
          <p:cNvPr id="198" name="Google Shape;198;p20" descr="image.png"/>
          <p:cNvPicPr preferRelativeResize="0"/>
          <p:nvPr/>
        </p:nvPicPr>
        <p:blipFill rotWithShape="1">
          <a:blip r:embed="rId4">
            <a:alphaModFix/>
          </a:blip>
          <a:srcRect/>
          <a:stretch/>
        </p:blipFill>
        <p:spPr>
          <a:xfrm>
            <a:off x="6334125" y="2990850"/>
            <a:ext cx="5095875" cy="1704975"/>
          </a:xfrm>
          <a:prstGeom prst="rect">
            <a:avLst/>
          </a:prstGeom>
          <a:noFill/>
          <a:ln>
            <a:noFill/>
          </a:ln>
        </p:spPr>
      </p:pic>
      <p:sp>
        <p:nvSpPr>
          <p:cNvPr id="199" name="Google Shape;199;p20"/>
          <p:cNvSpPr txBox="1"/>
          <p:nvPr/>
        </p:nvSpPr>
        <p:spPr>
          <a:xfrm>
            <a:off x="1009650" y="36480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Điểm truy cập tập trung, thực hiện định tuyến yêu cầu và xác thực bảo mật cho toàn bộ hệ thống.</a:t>
            </a:r>
            <a:endParaRPr/>
          </a:p>
        </p:txBody>
      </p:sp>
      <p:sp>
        <p:nvSpPr>
          <p:cNvPr id="200" name="Google Shape;200;p20"/>
          <p:cNvSpPr txBox="1"/>
          <p:nvPr/>
        </p:nvSpPr>
        <p:spPr>
          <a:xfrm>
            <a:off x="6581775" y="36480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Hệ thống đăng ký và phát hiện dịch vụ (Service Discovery), giúp các Microservices kết nối động.</a:t>
            </a:r>
            <a:endParaRPr/>
          </a:p>
        </p:txBody>
      </p:sp>
      <p:pic>
        <p:nvPicPr>
          <p:cNvPr id="201" name="Google Shape;201;p20" descr="image.png"/>
          <p:cNvPicPr preferRelativeResize="0"/>
          <p:nvPr/>
        </p:nvPicPr>
        <p:blipFill rotWithShape="1">
          <a:blip r:embed="rId5">
            <a:alphaModFix/>
          </a:blip>
          <a:srcRect/>
          <a:stretch/>
        </p:blipFill>
        <p:spPr>
          <a:xfrm>
            <a:off x="1009650" y="3257550"/>
            <a:ext cx="200025" cy="178296"/>
          </a:xfrm>
          <a:prstGeom prst="rect">
            <a:avLst/>
          </a:prstGeom>
          <a:noFill/>
          <a:ln>
            <a:noFill/>
          </a:ln>
        </p:spPr>
      </p:pic>
      <p:pic>
        <p:nvPicPr>
          <p:cNvPr id="202" name="Google Shape;202;p20" descr="image.png"/>
          <p:cNvPicPr preferRelativeResize="0"/>
          <p:nvPr/>
        </p:nvPicPr>
        <p:blipFill rotWithShape="1">
          <a:blip r:embed="rId6">
            <a:alphaModFix/>
          </a:blip>
          <a:srcRect/>
          <a:stretch/>
        </p:blipFill>
        <p:spPr>
          <a:xfrm>
            <a:off x="6581775" y="3257550"/>
            <a:ext cx="180975" cy="178296"/>
          </a:xfrm>
          <a:prstGeom prst="rect">
            <a:avLst/>
          </a:prstGeom>
          <a:noFill/>
          <a:ln>
            <a:noFill/>
          </a:ln>
        </p:spPr>
      </p:pic>
      <p:sp>
        <p:nvSpPr>
          <p:cNvPr id="203" name="Google Shape;203;p20"/>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DỊCH VỤ HẠ TẦNG KỸ THUẬT</a:t>
            </a:r>
            <a:endParaRPr/>
          </a:p>
        </p:txBody>
      </p:sp>
      <p:sp>
        <p:nvSpPr>
          <p:cNvPr id="204" name="Google Shape;204;p20"/>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20"/>
          <p:cNvSpPr txBox="1"/>
          <p:nvPr/>
        </p:nvSpPr>
        <p:spPr>
          <a:xfrm>
            <a:off x="1009650" y="3238500"/>
            <a:ext cx="4830603" cy="219075"/>
          </a:xfrm>
          <a:prstGeom prst="rect">
            <a:avLst/>
          </a:prstGeom>
          <a:noFill/>
          <a:ln>
            <a:noFill/>
          </a:ln>
        </p:spPr>
        <p:txBody>
          <a:bodyPr spcFirstLastPara="1" wrap="square" lIns="200025"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API Gateway</a:t>
            </a:r>
            <a:endParaRPr/>
          </a:p>
        </p:txBody>
      </p:sp>
      <p:sp>
        <p:nvSpPr>
          <p:cNvPr id="206" name="Google Shape;206;p20"/>
          <p:cNvSpPr txBox="1"/>
          <p:nvPr/>
        </p:nvSpPr>
        <p:spPr>
          <a:xfrm>
            <a:off x="6581775" y="3238500"/>
            <a:ext cx="4830603" cy="219075"/>
          </a:xfrm>
          <a:prstGeom prst="rect">
            <a:avLst/>
          </a:prstGeom>
          <a:noFill/>
          <a:ln>
            <a:noFill/>
          </a:ln>
        </p:spPr>
        <p:txBody>
          <a:bodyPr spcFirstLastPara="1" wrap="square" lIns="180975" tIns="0" rIns="0" bIns="0" anchor="t" anchorCtr="0">
            <a:spAutoFit/>
          </a:bodyPr>
          <a:lstStyle/>
          <a:p>
            <a:pPr marL="0" marR="0" lvl="0" indent="0" algn="l" rtl="0">
              <a:spcBef>
                <a:spcPts val="0"/>
              </a:spcBef>
              <a:spcAft>
                <a:spcPts val="0"/>
              </a:spcAft>
              <a:buNone/>
            </a:pPr>
            <a:r>
              <a:rPr lang="en-US" sz="1404" b="1" i="0" u="none" strike="noStrike" cap="none" dirty="0">
                <a:solidFill>
                  <a:srgbClr val="0F172A"/>
                </a:solidFill>
                <a:latin typeface="Montserrat"/>
                <a:ea typeface="Montserrat"/>
                <a:cs typeface="Montserrat"/>
                <a:sym typeface="Montserrat"/>
              </a:rPr>
              <a:t>Eureka Server</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pic>
        <p:nvPicPr>
          <p:cNvPr id="211" name="Google Shape;21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2" name="Google Shape;212;p21"/>
          <p:cNvSpPr/>
          <p:nvPr/>
        </p:nvSpPr>
        <p:spPr>
          <a:xfrm>
            <a:off x="5524500" y="2843212"/>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1"/>
          <p:cNvSpPr txBox="1"/>
          <p:nvPr/>
        </p:nvSpPr>
        <p:spPr>
          <a:xfrm>
            <a:off x="3815715" y="3186112"/>
            <a:ext cx="456057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1E3A8A"/>
                </a:solidFill>
                <a:latin typeface="Montserrat"/>
                <a:ea typeface="Montserrat"/>
                <a:cs typeface="Montserrat"/>
                <a:sym typeface="Montserrat"/>
              </a:rPr>
              <a:t>CHƯƠNG II</a:t>
            </a:r>
            <a:endParaRPr/>
          </a:p>
        </p:txBody>
      </p:sp>
      <p:sp>
        <p:nvSpPr>
          <p:cNvPr id="214" name="Google Shape;214;p21"/>
          <p:cNvSpPr txBox="1"/>
          <p:nvPr/>
        </p:nvSpPr>
        <p:spPr>
          <a:xfrm>
            <a:off x="3630691" y="4024312"/>
            <a:ext cx="4930616"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64748B"/>
                </a:solidFill>
                <a:latin typeface="Montserrat"/>
                <a:ea typeface="Montserrat"/>
                <a:cs typeface="Montserrat"/>
                <a:sym typeface="Montserrat"/>
              </a:rPr>
              <a:t>AGENTIC AI &amp; TỰ ĐỘNG HÓA QUY TRÌNH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8"/>
        <p:cNvGrpSpPr/>
        <p:nvPr/>
      </p:nvGrpSpPr>
      <p:grpSpPr>
        <a:xfrm>
          <a:off x="0" y="0"/>
          <a:ext cx="0" cy="0"/>
          <a:chOff x="0" y="0"/>
          <a:chExt cx="0" cy="0"/>
        </a:xfrm>
      </p:grpSpPr>
      <p:pic>
        <p:nvPicPr>
          <p:cNvPr id="219" name="Google Shape;219;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0" name="Google Shape;220;p22" descr="image.png"/>
          <p:cNvPicPr preferRelativeResize="0"/>
          <p:nvPr/>
        </p:nvPicPr>
        <p:blipFill rotWithShape="1">
          <a:blip r:embed="rId4">
            <a:alphaModFix/>
          </a:blip>
          <a:srcRect/>
          <a:stretch/>
        </p:blipFill>
        <p:spPr>
          <a:xfrm>
            <a:off x="762000" y="1883122"/>
            <a:ext cx="10668000" cy="1529655"/>
          </a:xfrm>
          <a:prstGeom prst="rect">
            <a:avLst/>
          </a:prstGeom>
          <a:noFill/>
          <a:ln>
            <a:noFill/>
          </a:ln>
        </p:spPr>
      </p:pic>
      <p:pic>
        <p:nvPicPr>
          <p:cNvPr id="221" name="Google Shape;221;p22" descr="image.png"/>
          <p:cNvPicPr preferRelativeResize="0"/>
          <p:nvPr/>
        </p:nvPicPr>
        <p:blipFill rotWithShape="1">
          <a:blip r:embed="rId5">
            <a:alphaModFix/>
          </a:blip>
          <a:srcRect/>
          <a:stretch/>
        </p:blipFill>
        <p:spPr>
          <a:xfrm>
            <a:off x="762000" y="3793777"/>
            <a:ext cx="5095875" cy="2009775"/>
          </a:xfrm>
          <a:prstGeom prst="rect">
            <a:avLst/>
          </a:prstGeom>
          <a:noFill/>
          <a:ln>
            <a:noFill/>
          </a:ln>
        </p:spPr>
      </p:pic>
      <p:pic>
        <p:nvPicPr>
          <p:cNvPr id="222" name="Google Shape;222;p22" descr="image.png"/>
          <p:cNvPicPr preferRelativeResize="0"/>
          <p:nvPr/>
        </p:nvPicPr>
        <p:blipFill rotWithShape="1">
          <a:blip r:embed="rId6">
            <a:alphaModFix/>
          </a:blip>
          <a:srcRect/>
          <a:stretch/>
        </p:blipFill>
        <p:spPr>
          <a:xfrm>
            <a:off x="6334125" y="3793777"/>
            <a:ext cx="5095875" cy="2009775"/>
          </a:xfrm>
          <a:prstGeom prst="rect">
            <a:avLst/>
          </a:prstGeom>
          <a:noFill/>
          <a:ln>
            <a:noFill/>
          </a:ln>
        </p:spPr>
      </p:pic>
      <p:sp>
        <p:nvSpPr>
          <p:cNvPr id="223" name="Google Shape;223;p22"/>
          <p:cNvSpPr txBox="1"/>
          <p:nvPr/>
        </p:nvSpPr>
        <p:spPr>
          <a:xfrm>
            <a:off x="1057275" y="2473672"/>
            <a:ext cx="1007745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1" i="0" u="none" strike="noStrike" cap="none">
                <a:solidFill>
                  <a:srgbClr val="1E40AF"/>
                </a:solidFill>
                <a:latin typeface="Open Sans"/>
                <a:ea typeface="Open Sans"/>
                <a:cs typeface="Open Sans"/>
                <a:sym typeface="Open Sans"/>
              </a:rPr>
              <a:t>AI Agent = Khả năng suy luận + Công cụ thực thi</a:t>
            </a:r>
            <a:endParaRPr/>
          </a:p>
        </p:txBody>
      </p:sp>
      <p:sp>
        <p:nvSpPr>
          <p:cNvPr id="224" name="Google Shape;224;p22"/>
          <p:cNvSpPr txBox="1"/>
          <p:nvPr/>
        </p:nvSpPr>
        <p:spPr>
          <a:xfrm>
            <a:off x="1009650" y="4451002"/>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Sử dụng các mô hình ngôn ngữ lớn để hiểu ý định của người dùng và chia nhỏ nhiệm vụ cần thực hiện.</a:t>
            </a:r>
            <a:endParaRPr/>
          </a:p>
        </p:txBody>
      </p:sp>
      <p:sp>
        <p:nvSpPr>
          <p:cNvPr id="225" name="Google Shape;225;p22"/>
          <p:cNvSpPr txBox="1"/>
          <p:nvPr/>
        </p:nvSpPr>
        <p:spPr>
          <a:xfrm>
            <a:off x="6581775" y="4451002"/>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Không chỉ trả lời văn bản, AI Agent có thể truy cập Database và gọi các API của Microservices để lấy dữ liệu thực.</a:t>
            </a:r>
            <a:endParaRPr/>
          </a:p>
        </p:txBody>
      </p:sp>
      <p:sp>
        <p:nvSpPr>
          <p:cNvPr id="226" name="Google Shape;226;p22"/>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KHÁI NIỆM TÁC TỬ AI (AI AGENT)</a:t>
            </a:r>
            <a:endParaRPr/>
          </a:p>
        </p:txBody>
      </p:sp>
      <p:sp>
        <p:nvSpPr>
          <p:cNvPr id="227" name="Google Shape;227;p22"/>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8" name="Google Shape;228;p22"/>
          <p:cNvSpPr txBox="1"/>
          <p:nvPr/>
        </p:nvSpPr>
        <p:spPr>
          <a:xfrm>
            <a:off x="1009650" y="4041427"/>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Nhận thức &amp; Lập kế hoạch</a:t>
            </a:r>
            <a:endParaRPr/>
          </a:p>
        </p:txBody>
      </p:sp>
      <p:sp>
        <p:nvSpPr>
          <p:cNvPr id="229" name="Google Shape;229;p22"/>
          <p:cNvSpPr txBox="1"/>
          <p:nvPr/>
        </p:nvSpPr>
        <p:spPr>
          <a:xfrm>
            <a:off x="6581775" y="4041427"/>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Khả năng hành động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pic>
        <p:nvPicPr>
          <p:cNvPr id="234" name="Google Shape;234;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5" name="Google Shape;235;p23" descr="image.png"/>
          <p:cNvPicPr preferRelativeResize="0"/>
          <p:nvPr/>
        </p:nvPicPr>
        <p:blipFill rotWithShape="1">
          <a:blip r:embed="rId4">
            <a:alphaModFix/>
          </a:blip>
          <a:srcRect/>
          <a:stretch/>
        </p:blipFill>
        <p:spPr>
          <a:xfrm>
            <a:off x="6334125" y="2800350"/>
            <a:ext cx="5095875" cy="1933575"/>
          </a:xfrm>
          <a:prstGeom prst="rect">
            <a:avLst/>
          </a:prstGeom>
          <a:noFill/>
          <a:ln>
            <a:noFill/>
          </a:ln>
        </p:spPr>
      </p:pic>
      <p:sp>
        <p:nvSpPr>
          <p:cNvPr id="236" name="Google Shape;236;p23"/>
          <p:cNvSpPr txBox="1"/>
          <p:nvPr/>
        </p:nvSpPr>
        <p:spPr>
          <a:xfrm>
            <a:off x="762000" y="2990850"/>
            <a:ext cx="5095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Hệ thống sử dụng </a:t>
            </a:r>
            <a:r>
              <a:rPr lang="en-US" sz="1500" b="1" i="0" u="none" strike="noStrike" cap="none">
                <a:solidFill>
                  <a:srgbClr val="334155"/>
                </a:solidFill>
                <a:latin typeface="Open Sans"/>
                <a:ea typeface="Open Sans"/>
                <a:cs typeface="Open Sans"/>
                <a:sym typeface="Open Sans"/>
              </a:rPr>
              <a:t>n8n</a:t>
            </a:r>
            <a:r>
              <a:rPr lang="en-US" sz="1500" b="0" i="0" u="none" strike="noStrike" cap="none">
                <a:solidFill>
                  <a:srgbClr val="334155"/>
                </a:solidFill>
                <a:latin typeface="Open Sans"/>
                <a:ea typeface="Open Sans"/>
                <a:cs typeface="Open Sans"/>
                <a:sym typeface="Open Sans"/>
              </a:rPr>
              <a:t> để xây dựng quy trình Agentic AI:</a:t>
            </a:r>
            <a:endParaRPr/>
          </a:p>
        </p:txBody>
      </p:sp>
      <p:sp>
        <p:nvSpPr>
          <p:cNvPr id="237" name="Google Shape;237;p23"/>
          <p:cNvSpPr txBox="1"/>
          <p:nvPr/>
        </p:nvSpPr>
        <p:spPr>
          <a:xfrm>
            <a:off x="6629400" y="3333750"/>
            <a:ext cx="45053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Open Sans"/>
                <a:ea typeface="Open Sans"/>
                <a:cs typeface="Open Sans"/>
                <a:sym typeface="Open Sans"/>
              </a:rPr>
              <a:t>"n8n đóng vai trò là 'hệ thần kinh' giúp kết nối bộ não AI với các cánh tay thực thi là các dịch vụ Backend."</a:t>
            </a:r>
            <a:endParaRPr/>
          </a:p>
        </p:txBody>
      </p:sp>
      <p:sp>
        <p:nvSpPr>
          <p:cNvPr id="238" name="Google Shape;238;p23"/>
          <p:cNvSpPr txBox="1"/>
          <p:nvPr/>
        </p:nvSpPr>
        <p:spPr>
          <a:xfrm>
            <a:off x="1066800" y="3533775"/>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239" name="Google Shape;239;p23"/>
          <p:cNvSpPr txBox="1"/>
          <p:nvPr/>
        </p:nvSpPr>
        <p:spPr>
          <a:xfrm>
            <a:off x="1143000" y="3533775"/>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Kết nối trực tiếp giữa LLM và các Microservices.</a:t>
            </a:r>
            <a:endParaRPr/>
          </a:p>
        </p:txBody>
      </p:sp>
      <p:sp>
        <p:nvSpPr>
          <p:cNvPr id="240" name="Google Shape;240;p23"/>
          <p:cNvSpPr txBox="1"/>
          <p:nvPr/>
        </p:nvSpPr>
        <p:spPr>
          <a:xfrm>
            <a:off x="1066800" y="3981450"/>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241" name="Google Shape;241;p23"/>
          <p:cNvSpPr txBox="1"/>
          <p:nvPr/>
        </p:nvSpPr>
        <p:spPr>
          <a:xfrm>
            <a:off x="1143000" y="3981450"/>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Xử lý logic phức tạp bằng các Node chức năng.</a:t>
            </a:r>
            <a:endParaRPr/>
          </a:p>
        </p:txBody>
      </p:sp>
      <p:sp>
        <p:nvSpPr>
          <p:cNvPr id="242" name="Google Shape;242;p23"/>
          <p:cNvSpPr txBox="1"/>
          <p:nvPr/>
        </p:nvSpPr>
        <p:spPr>
          <a:xfrm>
            <a:off x="1066800" y="4429125"/>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243" name="Google Shape;243;p23"/>
          <p:cNvSpPr txBox="1"/>
          <p:nvPr/>
        </p:nvSpPr>
        <p:spPr>
          <a:xfrm>
            <a:off x="1143000" y="4429125"/>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Quản lý bộ nhớ và ngữ cảnh hội thoại lâu dài.</a:t>
            </a:r>
            <a:endParaRPr/>
          </a:p>
        </p:txBody>
      </p:sp>
      <p:sp>
        <p:nvSpPr>
          <p:cNvPr id="244" name="Google Shape;244;p23"/>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N8N - NỀN TẢNG ĐIỀU PHỐI AI</a:t>
            </a:r>
            <a:endParaRPr/>
          </a:p>
        </p:txBody>
      </p:sp>
      <p:sp>
        <p:nvSpPr>
          <p:cNvPr id="245" name="Google Shape;245;p23"/>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9"/>
        <p:cNvGrpSpPr/>
        <p:nvPr/>
      </p:nvGrpSpPr>
      <p:grpSpPr>
        <a:xfrm>
          <a:off x="0" y="0"/>
          <a:ext cx="0" cy="0"/>
          <a:chOff x="0" y="0"/>
          <a:chExt cx="0" cy="0"/>
        </a:xfrm>
      </p:grpSpPr>
      <p:pic>
        <p:nvPicPr>
          <p:cNvPr id="250" name="Google Shape;250;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1" name="Google Shape;251;p24" descr="image.png"/>
          <p:cNvPicPr preferRelativeResize="0"/>
          <p:nvPr/>
        </p:nvPicPr>
        <p:blipFill rotWithShape="1">
          <a:blip r:embed="rId4">
            <a:alphaModFix/>
          </a:blip>
          <a:srcRect/>
          <a:stretch/>
        </p:blipFill>
        <p:spPr>
          <a:xfrm>
            <a:off x="762000" y="2838450"/>
            <a:ext cx="5095875" cy="2009775"/>
          </a:xfrm>
          <a:prstGeom prst="rect">
            <a:avLst/>
          </a:prstGeom>
          <a:noFill/>
          <a:ln>
            <a:noFill/>
          </a:ln>
        </p:spPr>
      </p:pic>
      <p:pic>
        <p:nvPicPr>
          <p:cNvPr id="252" name="Google Shape;252;p24" descr="image.png"/>
          <p:cNvPicPr preferRelativeResize="0"/>
          <p:nvPr/>
        </p:nvPicPr>
        <p:blipFill rotWithShape="1">
          <a:blip r:embed="rId5">
            <a:alphaModFix/>
          </a:blip>
          <a:srcRect/>
          <a:stretch/>
        </p:blipFill>
        <p:spPr>
          <a:xfrm>
            <a:off x="6334125" y="2838450"/>
            <a:ext cx="5095875" cy="2009775"/>
          </a:xfrm>
          <a:prstGeom prst="rect">
            <a:avLst/>
          </a:prstGeom>
          <a:noFill/>
          <a:ln>
            <a:noFill/>
          </a:ln>
        </p:spPr>
      </p:pic>
      <p:sp>
        <p:nvSpPr>
          <p:cNvPr id="253" name="Google Shape;253;p24"/>
          <p:cNvSpPr txBox="1"/>
          <p:nvPr/>
        </p:nvSpPr>
        <p:spPr>
          <a:xfrm>
            <a:off x="1009650" y="34956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Lưu trữ tri thức về sản phẩm và chính sách cửa hàng dưới dạng Vector hóa để AI tìm kiếm nhanh chóng.</a:t>
            </a:r>
            <a:endParaRPr/>
          </a:p>
        </p:txBody>
      </p:sp>
      <p:sp>
        <p:nvSpPr>
          <p:cNvPr id="254" name="Google Shape;254;p24"/>
          <p:cNvSpPr txBox="1"/>
          <p:nvPr/>
        </p:nvSpPr>
        <p:spPr>
          <a:xfrm>
            <a:off x="6581775" y="3495675"/>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AI truy xuất thông tin từ Qdrant để bổ sung ngữ cảnh cho câu trả lời, đảm bảo tính xác thực và cập nhật.</a:t>
            </a:r>
            <a:endParaRPr/>
          </a:p>
        </p:txBody>
      </p:sp>
      <p:sp>
        <p:nvSpPr>
          <p:cNvPr id="255" name="Google Shape;255;p24"/>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CÔNG NGHỆ RAG &amp; VECTOR DATABASE</a:t>
            </a:r>
            <a:endParaRPr/>
          </a:p>
        </p:txBody>
      </p:sp>
      <p:sp>
        <p:nvSpPr>
          <p:cNvPr id="256" name="Google Shape;256;p24"/>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4"/>
          <p:cNvSpPr txBox="1"/>
          <p:nvPr/>
        </p:nvSpPr>
        <p:spPr>
          <a:xfrm>
            <a:off x="1009650" y="30861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Qdrant Vector Database</a:t>
            </a:r>
            <a:endParaRPr/>
          </a:p>
        </p:txBody>
      </p:sp>
      <p:sp>
        <p:nvSpPr>
          <p:cNvPr id="258" name="Google Shape;258;p24"/>
          <p:cNvSpPr txBox="1"/>
          <p:nvPr/>
        </p:nvSpPr>
        <p:spPr>
          <a:xfrm>
            <a:off x="6581775" y="30861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Cơ chế truy xuất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2"/>
        <p:cNvGrpSpPr/>
        <p:nvPr/>
      </p:nvGrpSpPr>
      <p:grpSpPr>
        <a:xfrm>
          <a:off x="0" y="0"/>
          <a:ext cx="0" cy="0"/>
          <a:chOff x="0" y="0"/>
          <a:chExt cx="0" cy="0"/>
        </a:xfrm>
      </p:grpSpPr>
      <p:pic>
        <p:nvPicPr>
          <p:cNvPr id="263" name="Google Shape;263;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4" name="Google Shape;264;p25"/>
          <p:cNvSpPr/>
          <p:nvPr/>
        </p:nvSpPr>
        <p:spPr>
          <a:xfrm>
            <a:off x="5524500" y="2843212"/>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5"/>
          <p:cNvSpPr txBox="1"/>
          <p:nvPr/>
        </p:nvSpPr>
        <p:spPr>
          <a:xfrm>
            <a:off x="3685698" y="3186112"/>
            <a:ext cx="4820602"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1E3A8A"/>
                </a:solidFill>
                <a:latin typeface="Montserrat"/>
                <a:ea typeface="Montserrat"/>
                <a:cs typeface="Montserrat"/>
                <a:sym typeface="Montserrat"/>
              </a:rPr>
              <a:t>CHƯƠNG III</a:t>
            </a:r>
            <a:endParaRPr/>
          </a:p>
        </p:txBody>
      </p:sp>
      <p:sp>
        <p:nvSpPr>
          <p:cNvPr id="266" name="Google Shape;266;p25"/>
          <p:cNvSpPr txBox="1"/>
          <p:nvPr/>
        </p:nvSpPr>
        <p:spPr>
          <a:xfrm>
            <a:off x="3555682" y="4024312"/>
            <a:ext cx="5080635"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64748B"/>
                </a:solidFill>
                <a:latin typeface="Montserrat"/>
                <a:ea typeface="Montserrat"/>
                <a:cs typeface="Montserrat"/>
                <a:sym typeface="Montserrat"/>
              </a:rPr>
              <a:t>HÀNH TRÌNH TRẢI NGHIỆM NGƯỜI DÙNG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pic>
        <p:nvPicPr>
          <p:cNvPr id="271" name="Google Shape;271;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2" name="Google Shape;272;p26" descr="image.png"/>
          <p:cNvPicPr preferRelativeResize="0"/>
          <p:nvPr/>
        </p:nvPicPr>
        <p:blipFill rotWithShape="1">
          <a:blip r:embed="rId4">
            <a:alphaModFix/>
          </a:blip>
          <a:srcRect/>
          <a:stretch/>
        </p:blipFill>
        <p:spPr>
          <a:xfrm>
            <a:off x="762000" y="2395537"/>
            <a:ext cx="3365450" cy="2895600"/>
          </a:xfrm>
          <a:prstGeom prst="rect">
            <a:avLst/>
          </a:prstGeom>
          <a:noFill/>
          <a:ln>
            <a:noFill/>
          </a:ln>
        </p:spPr>
      </p:pic>
      <p:pic>
        <p:nvPicPr>
          <p:cNvPr id="273" name="Google Shape;273;p26" descr="image.png"/>
          <p:cNvPicPr preferRelativeResize="0"/>
          <p:nvPr/>
        </p:nvPicPr>
        <p:blipFill rotWithShape="1">
          <a:blip r:embed="rId5">
            <a:alphaModFix/>
          </a:blip>
          <a:srcRect/>
          <a:stretch/>
        </p:blipFill>
        <p:spPr>
          <a:xfrm>
            <a:off x="4413200" y="2395537"/>
            <a:ext cx="3365450" cy="2895600"/>
          </a:xfrm>
          <a:prstGeom prst="rect">
            <a:avLst/>
          </a:prstGeom>
          <a:noFill/>
          <a:ln>
            <a:noFill/>
          </a:ln>
        </p:spPr>
      </p:pic>
      <p:pic>
        <p:nvPicPr>
          <p:cNvPr id="274" name="Google Shape;274;p26" descr="image.png"/>
          <p:cNvPicPr preferRelativeResize="0"/>
          <p:nvPr/>
        </p:nvPicPr>
        <p:blipFill rotWithShape="1">
          <a:blip r:embed="rId6">
            <a:alphaModFix/>
          </a:blip>
          <a:srcRect/>
          <a:stretch/>
        </p:blipFill>
        <p:spPr>
          <a:xfrm>
            <a:off x="8064400" y="2395537"/>
            <a:ext cx="3365599" cy="2895600"/>
          </a:xfrm>
          <a:prstGeom prst="rect">
            <a:avLst/>
          </a:prstGeom>
          <a:noFill/>
          <a:ln>
            <a:noFill/>
          </a:ln>
        </p:spPr>
      </p:pic>
      <p:sp>
        <p:nvSpPr>
          <p:cNvPr id="275" name="Google Shape;275;p26"/>
          <p:cNvSpPr txBox="1"/>
          <p:nvPr/>
        </p:nvSpPr>
        <p:spPr>
          <a:xfrm>
            <a:off x="1009650" y="2643187"/>
            <a:ext cx="2870150"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2563EB"/>
                </a:solidFill>
                <a:latin typeface="Open Sans"/>
                <a:ea typeface="Open Sans"/>
                <a:cs typeface="Open Sans"/>
                <a:sym typeface="Open Sans"/>
              </a:rPr>
              <a:t>01</a:t>
            </a:r>
            <a:endParaRPr/>
          </a:p>
        </p:txBody>
      </p:sp>
      <p:sp>
        <p:nvSpPr>
          <p:cNvPr id="276" name="Google Shape;276;p26"/>
          <p:cNvSpPr txBox="1"/>
          <p:nvPr/>
        </p:nvSpPr>
        <p:spPr>
          <a:xfrm>
            <a:off x="1009650" y="4243387"/>
            <a:ext cx="287015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Tìm kiếm sản phẩm thông qua trò chuyện tự nhiên.</a:t>
            </a:r>
            <a:endParaRPr/>
          </a:p>
        </p:txBody>
      </p:sp>
      <p:sp>
        <p:nvSpPr>
          <p:cNvPr id="277" name="Google Shape;277;p26"/>
          <p:cNvSpPr txBox="1"/>
          <p:nvPr/>
        </p:nvSpPr>
        <p:spPr>
          <a:xfrm>
            <a:off x="4660850" y="2643187"/>
            <a:ext cx="2870150"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2563EB"/>
                </a:solidFill>
                <a:latin typeface="Open Sans"/>
                <a:ea typeface="Open Sans"/>
                <a:cs typeface="Open Sans"/>
                <a:sym typeface="Open Sans"/>
              </a:rPr>
              <a:t>02</a:t>
            </a:r>
            <a:endParaRPr/>
          </a:p>
        </p:txBody>
      </p:sp>
      <p:sp>
        <p:nvSpPr>
          <p:cNvPr id="278" name="Google Shape;278;p26"/>
          <p:cNvSpPr txBox="1"/>
          <p:nvPr/>
        </p:nvSpPr>
        <p:spPr>
          <a:xfrm>
            <a:off x="4660850" y="4243387"/>
            <a:ext cx="287015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Giải đáp thắc mắc về Size, màu sắc và tồn kho.</a:t>
            </a:r>
            <a:endParaRPr/>
          </a:p>
        </p:txBody>
      </p:sp>
      <p:sp>
        <p:nvSpPr>
          <p:cNvPr id="279" name="Google Shape;279;p26"/>
          <p:cNvSpPr txBox="1"/>
          <p:nvPr/>
        </p:nvSpPr>
        <p:spPr>
          <a:xfrm>
            <a:off x="8312050" y="2643187"/>
            <a:ext cx="2870299"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2563EB"/>
                </a:solidFill>
                <a:latin typeface="Open Sans"/>
                <a:ea typeface="Open Sans"/>
                <a:cs typeface="Open Sans"/>
                <a:sym typeface="Open Sans"/>
              </a:rPr>
              <a:t>03</a:t>
            </a:r>
            <a:endParaRPr/>
          </a:p>
        </p:txBody>
      </p:sp>
      <p:sp>
        <p:nvSpPr>
          <p:cNvPr id="280" name="Google Shape;280;p26"/>
          <p:cNvSpPr txBox="1"/>
          <p:nvPr/>
        </p:nvSpPr>
        <p:spPr>
          <a:xfrm>
            <a:off x="8312050" y="4243387"/>
            <a:ext cx="287029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Tra cứu đơn hàng và chính sách hậu mãi tức thì.</a:t>
            </a:r>
            <a:endParaRPr/>
          </a:p>
        </p:txBody>
      </p:sp>
      <p:sp>
        <p:nvSpPr>
          <p:cNvPr id="281" name="Google Shape;281;p26"/>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HÀNH TRÌNH KHÁCH HÀNG VỚI AI AGENT</a:t>
            </a:r>
            <a:endParaRPr/>
          </a:p>
        </p:txBody>
      </p:sp>
      <p:sp>
        <p:nvSpPr>
          <p:cNvPr id="282" name="Google Shape;282;p26"/>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6"/>
          <p:cNvSpPr txBox="1"/>
          <p:nvPr/>
        </p:nvSpPr>
        <p:spPr>
          <a:xfrm>
            <a:off x="937896" y="3833812"/>
            <a:ext cx="3013657"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Tư vấn sản phẩm</a:t>
            </a:r>
            <a:endParaRPr/>
          </a:p>
        </p:txBody>
      </p:sp>
      <p:sp>
        <p:nvSpPr>
          <p:cNvPr id="284" name="Google Shape;284;p26"/>
          <p:cNvSpPr txBox="1"/>
          <p:nvPr/>
        </p:nvSpPr>
        <p:spPr>
          <a:xfrm>
            <a:off x="4589096" y="3833812"/>
            <a:ext cx="3013657"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Hỗ trợ mua hàng</a:t>
            </a:r>
            <a:endParaRPr/>
          </a:p>
        </p:txBody>
      </p:sp>
      <p:sp>
        <p:nvSpPr>
          <p:cNvPr id="285" name="Google Shape;285;p26"/>
          <p:cNvSpPr txBox="1"/>
          <p:nvPr/>
        </p:nvSpPr>
        <p:spPr>
          <a:xfrm>
            <a:off x="8240293" y="3833812"/>
            <a:ext cx="3013814"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Chăm sóc sau mua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9"/>
        <p:cNvGrpSpPr/>
        <p:nvPr/>
      </p:nvGrpSpPr>
      <p:grpSpPr>
        <a:xfrm>
          <a:off x="0" y="0"/>
          <a:ext cx="0" cy="0"/>
          <a:chOff x="0" y="0"/>
          <a:chExt cx="0" cy="0"/>
        </a:xfrm>
      </p:grpSpPr>
      <p:pic>
        <p:nvPicPr>
          <p:cNvPr id="290" name="Google Shape;290;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1" name="Google Shape;291;p27" descr="image.png"/>
          <p:cNvPicPr preferRelativeResize="0"/>
          <p:nvPr/>
        </p:nvPicPr>
        <p:blipFill rotWithShape="1">
          <a:blip r:embed="rId4">
            <a:alphaModFix/>
          </a:blip>
          <a:srcRect/>
          <a:stretch/>
        </p:blipFill>
        <p:spPr>
          <a:xfrm>
            <a:off x="6334125" y="2828925"/>
            <a:ext cx="5095875" cy="1933575"/>
          </a:xfrm>
          <a:prstGeom prst="rect">
            <a:avLst/>
          </a:prstGeom>
          <a:noFill/>
          <a:ln>
            <a:noFill/>
          </a:ln>
        </p:spPr>
      </p:pic>
      <p:sp>
        <p:nvSpPr>
          <p:cNvPr id="292" name="Google Shape;292;p27"/>
          <p:cNvSpPr txBox="1"/>
          <p:nvPr/>
        </p:nvSpPr>
        <p:spPr>
          <a:xfrm>
            <a:off x="762000" y="3019425"/>
            <a:ext cx="5095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Trợ lý AI giúp khách hàng:</a:t>
            </a:r>
            <a:endParaRPr/>
          </a:p>
        </p:txBody>
      </p:sp>
      <p:sp>
        <p:nvSpPr>
          <p:cNvPr id="293" name="Google Shape;293;p27"/>
          <p:cNvSpPr txBox="1"/>
          <p:nvPr/>
        </p:nvSpPr>
        <p:spPr>
          <a:xfrm>
            <a:off x="6629400" y="3362325"/>
            <a:ext cx="450532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Ví dụ tương tác:</a:t>
            </a:r>
            <a:r>
              <a:rPr lang="en-US" sz="1500" b="0" i="0" u="none" strike="noStrike" cap="none">
                <a:solidFill>
                  <a:srgbClr val="334155"/>
                </a:solidFill>
                <a:latin typeface="Open Sans"/>
                <a:ea typeface="Open Sans"/>
                <a:cs typeface="Open Sans"/>
                <a:sym typeface="Open Sans"/>
              </a:rPr>
              <a:t> "Tôi muốn tìm một đôi giày chạy bộ Nike size 41 dưới 2 triệu đồng." -&gt; AI trả về danh sách chính xác từ Database.</a:t>
            </a:r>
            <a:endParaRPr/>
          </a:p>
        </p:txBody>
      </p:sp>
      <p:sp>
        <p:nvSpPr>
          <p:cNvPr id="294" name="Google Shape;294;p27"/>
          <p:cNvSpPr txBox="1"/>
          <p:nvPr/>
        </p:nvSpPr>
        <p:spPr>
          <a:xfrm>
            <a:off x="1066800" y="3562350"/>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295" name="Google Shape;295;p27"/>
          <p:cNvSpPr txBox="1"/>
          <p:nvPr/>
        </p:nvSpPr>
        <p:spPr>
          <a:xfrm>
            <a:off x="1143000" y="3562350"/>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Tìm đồ thể thao theo bộ môn (Yoga, Gym, Chạy bộ).</a:t>
            </a:r>
            <a:endParaRPr/>
          </a:p>
        </p:txBody>
      </p:sp>
      <p:sp>
        <p:nvSpPr>
          <p:cNvPr id="296" name="Google Shape;296;p27"/>
          <p:cNvSpPr txBox="1"/>
          <p:nvPr/>
        </p:nvSpPr>
        <p:spPr>
          <a:xfrm>
            <a:off x="1066800" y="3981450"/>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297" name="Google Shape;297;p27"/>
          <p:cNvSpPr txBox="1"/>
          <p:nvPr/>
        </p:nvSpPr>
        <p:spPr>
          <a:xfrm>
            <a:off x="1143000" y="3981450"/>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Gợi ý sản phẩm dựa trên số đo và giới tính.</a:t>
            </a:r>
            <a:endParaRPr/>
          </a:p>
        </p:txBody>
      </p:sp>
      <p:sp>
        <p:nvSpPr>
          <p:cNvPr id="298" name="Google Shape;298;p27"/>
          <p:cNvSpPr txBox="1"/>
          <p:nvPr/>
        </p:nvSpPr>
        <p:spPr>
          <a:xfrm>
            <a:off x="1066800" y="4400550"/>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299" name="Google Shape;299;p27"/>
          <p:cNvSpPr txBox="1"/>
          <p:nvPr/>
        </p:nvSpPr>
        <p:spPr>
          <a:xfrm>
            <a:off x="1143000" y="4400550"/>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Kiểm tra tính sẵn có của biến thể sản phẩm.</a:t>
            </a:r>
            <a:endParaRPr/>
          </a:p>
        </p:txBody>
      </p:sp>
      <p:sp>
        <p:nvSpPr>
          <p:cNvPr id="300" name="Google Shape;300;p27"/>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TÁC TỬ TƯ VẤN PHONG CÁCH CÁ NHÂN</a:t>
            </a:r>
            <a:endParaRPr/>
          </a:p>
        </p:txBody>
      </p:sp>
      <p:sp>
        <p:nvSpPr>
          <p:cNvPr id="301" name="Google Shape;301;p27"/>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5"/>
        <p:cNvGrpSpPr/>
        <p:nvPr/>
      </p:nvGrpSpPr>
      <p:grpSpPr>
        <a:xfrm>
          <a:off x="0" y="0"/>
          <a:ext cx="0" cy="0"/>
          <a:chOff x="0" y="0"/>
          <a:chExt cx="0" cy="0"/>
        </a:xfrm>
      </p:grpSpPr>
      <p:pic>
        <p:nvPicPr>
          <p:cNvPr id="306" name="Google Shape;306;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7" name="Google Shape;307;p28" descr="image.png"/>
          <p:cNvPicPr preferRelativeResize="0"/>
          <p:nvPr/>
        </p:nvPicPr>
        <p:blipFill rotWithShape="1">
          <a:blip r:embed="rId4">
            <a:alphaModFix/>
          </a:blip>
          <a:srcRect/>
          <a:stretch/>
        </p:blipFill>
        <p:spPr>
          <a:xfrm>
            <a:off x="762000" y="2033587"/>
            <a:ext cx="10668000" cy="1323975"/>
          </a:xfrm>
          <a:prstGeom prst="rect">
            <a:avLst/>
          </a:prstGeom>
          <a:noFill/>
          <a:ln>
            <a:noFill/>
          </a:ln>
        </p:spPr>
      </p:pic>
      <p:pic>
        <p:nvPicPr>
          <p:cNvPr id="308" name="Google Shape;308;p28" descr="image.png"/>
          <p:cNvPicPr preferRelativeResize="0"/>
          <p:nvPr/>
        </p:nvPicPr>
        <p:blipFill rotWithShape="1">
          <a:blip r:embed="rId5">
            <a:alphaModFix/>
          </a:blip>
          <a:srcRect/>
          <a:stretch/>
        </p:blipFill>
        <p:spPr>
          <a:xfrm>
            <a:off x="762000" y="3643312"/>
            <a:ext cx="5095875" cy="2009775"/>
          </a:xfrm>
          <a:prstGeom prst="rect">
            <a:avLst/>
          </a:prstGeom>
          <a:noFill/>
          <a:ln>
            <a:noFill/>
          </a:ln>
        </p:spPr>
      </p:pic>
      <p:pic>
        <p:nvPicPr>
          <p:cNvPr id="309" name="Google Shape;309;p28" descr="image.png"/>
          <p:cNvPicPr preferRelativeResize="0"/>
          <p:nvPr/>
        </p:nvPicPr>
        <p:blipFill rotWithShape="1">
          <a:blip r:embed="rId6">
            <a:alphaModFix/>
          </a:blip>
          <a:srcRect/>
          <a:stretch/>
        </p:blipFill>
        <p:spPr>
          <a:xfrm>
            <a:off x="6334125" y="3643312"/>
            <a:ext cx="5095875" cy="2009775"/>
          </a:xfrm>
          <a:prstGeom prst="rect">
            <a:avLst/>
          </a:prstGeom>
          <a:noFill/>
          <a:ln>
            <a:noFill/>
          </a:ln>
        </p:spPr>
      </p:pic>
      <p:sp>
        <p:nvSpPr>
          <p:cNvPr id="310" name="Google Shape;310;p28"/>
          <p:cNvSpPr txBox="1"/>
          <p:nvPr/>
        </p:nvSpPr>
        <p:spPr>
          <a:xfrm>
            <a:off x="1057275" y="2566987"/>
            <a:ext cx="10077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Loại bỏ rào cản khi người dùng phải tự tìm đọc các chính sách phức tạp.</a:t>
            </a:r>
            <a:endParaRPr/>
          </a:p>
        </p:txBody>
      </p:sp>
      <p:sp>
        <p:nvSpPr>
          <p:cNvPr id="311" name="Google Shape;311;p28"/>
          <p:cNvSpPr txBox="1"/>
          <p:nvPr/>
        </p:nvSpPr>
        <p:spPr>
          <a:xfrm>
            <a:off x="1009650" y="4300537"/>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Cung cấp thông tin phí vận chuyển và thời gian giao hàng dự kiến dựa trên địa lý của khách hàng.</a:t>
            </a:r>
            <a:endParaRPr/>
          </a:p>
        </p:txBody>
      </p:sp>
      <p:sp>
        <p:nvSpPr>
          <p:cNvPr id="312" name="Google Shape;312;p28"/>
          <p:cNvSpPr txBox="1"/>
          <p:nvPr/>
        </p:nvSpPr>
        <p:spPr>
          <a:xfrm>
            <a:off x="6581775" y="4300537"/>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Hướng dẫn khách hàng thủ tục đổi trả hoặc bảo hành sản phẩm lỗi một cách nhanh chóng qua Chatbot.</a:t>
            </a:r>
            <a:endParaRPr/>
          </a:p>
        </p:txBody>
      </p:sp>
      <p:sp>
        <p:nvSpPr>
          <p:cNvPr id="313" name="Google Shape;313;p28"/>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TRỢ LÝ HẬU CẦN &amp; CHÍNH SÁCH</a:t>
            </a:r>
            <a:endParaRPr/>
          </a:p>
        </p:txBody>
      </p:sp>
      <p:sp>
        <p:nvSpPr>
          <p:cNvPr id="314" name="Google Shape;314;p28"/>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8"/>
          <p:cNvSpPr txBox="1"/>
          <p:nvPr/>
        </p:nvSpPr>
        <p:spPr>
          <a:xfrm>
            <a:off x="1009650" y="3890962"/>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Giao nhận &amp; Phí ship</a:t>
            </a:r>
            <a:endParaRPr/>
          </a:p>
        </p:txBody>
      </p:sp>
      <p:sp>
        <p:nvSpPr>
          <p:cNvPr id="316" name="Google Shape;316;p28"/>
          <p:cNvSpPr txBox="1"/>
          <p:nvPr/>
        </p:nvSpPr>
        <p:spPr>
          <a:xfrm>
            <a:off x="6581775" y="3890962"/>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Quy định đổi trả</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0"/>
        <p:cNvGrpSpPr/>
        <p:nvPr/>
      </p:nvGrpSpPr>
      <p:grpSpPr>
        <a:xfrm>
          <a:off x="0" y="0"/>
          <a:ext cx="0" cy="0"/>
          <a:chOff x="0" y="0"/>
          <a:chExt cx="0" cy="0"/>
        </a:xfrm>
      </p:grpSpPr>
      <p:pic>
        <p:nvPicPr>
          <p:cNvPr id="321" name="Google Shape;321;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2" name="Google Shape;322;p29" descr="image.png"/>
          <p:cNvPicPr preferRelativeResize="0"/>
          <p:nvPr/>
        </p:nvPicPr>
        <p:blipFill rotWithShape="1">
          <a:blip r:embed="rId4">
            <a:alphaModFix/>
          </a:blip>
          <a:srcRect/>
          <a:stretch/>
        </p:blipFill>
        <p:spPr>
          <a:xfrm>
            <a:off x="6334125" y="2800350"/>
            <a:ext cx="5095875" cy="1628775"/>
          </a:xfrm>
          <a:prstGeom prst="rect">
            <a:avLst/>
          </a:prstGeom>
          <a:noFill/>
          <a:ln>
            <a:noFill/>
          </a:ln>
        </p:spPr>
      </p:pic>
      <p:sp>
        <p:nvSpPr>
          <p:cNvPr id="323" name="Google Shape;323;p29"/>
          <p:cNvSpPr txBox="1"/>
          <p:nvPr/>
        </p:nvSpPr>
        <p:spPr>
          <a:xfrm>
            <a:off x="762000" y="2990850"/>
            <a:ext cx="5095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Hệ thống tự động ghi nhận và cá nhân hóa:</a:t>
            </a:r>
            <a:endParaRPr/>
          </a:p>
        </p:txBody>
      </p:sp>
      <p:sp>
        <p:nvSpPr>
          <p:cNvPr id="324" name="Google Shape;324;p29"/>
          <p:cNvSpPr txBox="1"/>
          <p:nvPr/>
        </p:nvSpPr>
        <p:spPr>
          <a:xfrm>
            <a:off x="6629400" y="3333750"/>
            <a:ext cx="4505325" cy="609600"/>
          </a:xfrm>
          <a:prstGeom prst="rect">
            <a:avLst/>
          </a:prstGeom>
          <a:noFill/>
          <a:ln>
            <a:noFill/>
          </a:ln>
        </p:spPr>
        <p:txBody>
          <a:bodyPr spcFirstLastPara="1" wrap="square" lIns="238125"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Trải nghiệm mua sắm trở nên gần gũi như có một trợ lý riêng hiểu rõ nhu cầu của bạn.</a:t>
            </a:r>
            <a:endParaRPr/>
          </a:p>
        </p:txBody>
      </p:sp>
      <p:sp>
        <p:nvSpPr>
          <p:cNvPr id="325" name="Google Shape;325;p29"/>
          <p:cNvSpPr txBox="1"/>
          <p:nvPr/>
        </p:nvSpPr>
        <p:spPr>
          <a:xfrm>
            <a:off x="1066800" y="3533775"/>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326" name="Google Shape;326;p29"/>
          <p:cNvSpPr txBox="1"/>
          <p:nvPr/>
        </p:nvSpPr>
        <p:spPr>
          <a:xfrm>
            <a:off x="1143000" y="3533775"/>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Ghi nhớ Size giày, áo thường mua của khách.</a:t>
            </a:r>
            <a:endParaRPr/>
          </a:p>
        </p:txBody>
      </p:sp>
      <p:sp>
        <p:nvSpPr>
          <p:cNvPr id="327" name="Google Shape;327;p29"/>
          <p:cNvSpPr txBox="1"/>
          <p:nvPr/>
        </p:nvSpPr>
        <p:spPr>
          <a:xfrm>
            <a:off x="1066800" y="3981450"/>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328" name="Google Shape;328;p29"/>
          <p:cNvSpPr txBox="1"/>
          <p:nvPr/>
        </p:nvSpPr>
        <p:spPr>
          <a:xfrm>
            <a:off x="1143000" y="3981450"/>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Lưu lại lịch sử quan tâm đến các thương hiệu cụ thể.</a:t>
            </a:r>
            <a:endParaRPr/>
          </a:p>
        </p:txBody>
      </p:sp>
      <p:sp>
        <p:nvSpPr>
          <p:cNvPr id="329" name="Google Shape;329;p29"/>
          <p:cNvSpPr txBox="1"/>
          <p:nvPr/>
        </p:nvSpPr>
        <p:spPr>
          <a:xfrm>
            <a:off x="1066800" y="4429125"/>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330" name="Google Shape;330;p29"/>
          <p:cNvSpPr txBox="1"/>
          <p:nvPr/>
        </p:nvSpPr>
        <p:spPr>
          <a:xfrm>
            <a:off x="1143000" y="4429125"/>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Tư vấn sản phẩm mới dựa trên gu thẩm mỹ đã biết.</a:t>
            </a:r>
            <a:endParaRPr/>
          </a:p>
        </p:txBody>
      </p:sp>
      <p:pic>
        <p:nvPicPr>
          <p:cNvPr id="331" name="Google Shape;331;p29" descr="image.png"/>
          <p:cNvPicPr preferRelativeResize="0"/>
          <p:nvPr/>
        </p:nvPicPr>
        <p:blipFill rotWithShape="1">
          <a:blip r:embed="rId5">
            <a:alphaModFix/>
          </a:blip>
          <a:srcRect/>
          <a:stretch/>
        </p:blipFill>
        <p:spPr>
          <a:xfrm>
            <a:off x="6629400" y="3390900"/>
            <a:ext cx="238125" cy="190500"/>
          </a:xfrm>
          <a:prstGeom prst="rect">
            <a:avLst/>
          </a:prstGeom>
          <a:noFill/>
          <a:ln>
            <a:noFill/>
          </a:ln>
        </p:spPr>
      </p:pic>
      <p:sp>
        <p:nvSpPr>
          <p:cNvPr id="332" name="Google Shape;332;p29"/>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HỒ SƠ SỞ THÍCH KHÁCH HÀNG (USER PROFILE)</a:t>
            </a:r>
            <a:endParaRPr/>
          </a:p>
        </p:txBody>
      </p:sp>
      <p:sp>
        <p:nvSpPr>
          <p:cNvPr id="333" name="Google Shape;333;p29"/>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p:cNvGrpSpPr/>
        <p:nvPr/>
      </p:nvGrpSpPr>
      <p:grpSpPr>
        <a:xfrm>
          <a:off x="0" y="0"/>
          <a:ext cx="0" cy="0"/>
          <a:chOff x="0" y="0"/>
          <a:chExt cx="0" cy="0"/>
        </a:xfrm>
      </p:grpSpPr>
      <p:pic>
        <p:nvPicPr>
          <p:cNvPr id="338" name="Google Shape;338;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9" name="Google Shape;339;p30" descr="image.png"/>
          <p:cNvPicPr preferRelativeResize="0"/>
          <p:nvPr/>
        </p:nvPicPr>
        <p:blipFill rotWithShape="1">
          <a:blip r:embed="rId4">
            <a:alphaModFix/>
          </a:blip>
          <a:srcRect/>
          <a:stretch/>
        </p:blipFill>
        <p:spPr>
          <a:xfrm>
            <a:off x="762000" y="2838450"/>
            <a:ext cx="5095875" cy="2009775"/>
          </a:xfrm>
          <a:prstGeom prst="rect">
            <a:avLst/>
          </a:prstGeom>
          <a:noFill/>
          <a:ln>
            <a:noFill/>
          </a:ln>
        </p:spPr>
      </p:pic>
      <p:pic>
        <p:nvPicPr>
          <p:cNvPr id="340" name="Google Shape;340;p30" descr="image.png"/>
          <p:cNvPicPr preferRelativeResize="0"/>
          <p:nvPr/>
        </p:nvPicPr>
        <p:blipFill rotWithShape="1">
          <a:blip r:embed="rId4">
            <a:alphaModFix/>
          </a:blip>
          <a:srcRect/>
          <a:stretch/>
        </p:blipFill>
        <p:spPr>
          <a:xfrm>
            <a:off x="6334125" y="2838450"/>
            <a:ext cx="5095875" cy="2009775"/>
          </a:xfrm>
          <a:prstGeom prst="rect">
            <a:avLst/>
          </a:prstGeom>
          <a:noFill/>
          <a:ln>
            <a:noFill/>
          </a:ln>
        </p:spPr>
      </p:pic>
      <p:sp>
        <p:nvSpPr>
          <p:cNvPr id="341" name="Google Shape;341;p30"/>
          <p:cNvSpPr txBox="1"/>
          <p:nvPr/>
        </p:nvSpPr>
        <p:spPr>
          <a:xfrm>
            <a:off x="1009650" y="3495675"/>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Người dùng nhận thông báo email ngay khi đơn hàng được xác nhận hoặc thay đổi trạng thái giao hàng.</a:t>
            </a:r>
            <a:endParaRPr/>
          </a:p>
        </p:txBody>
      </p:sp>
      <p:sp>
        <p:nvSpPr>
          <p:cNvPr id="342" name="Google Shape;342;p30"/>
          <p:cNvSpPr txBox="1"/>
          <p:nvPr/>
        </p:nvSpPr>
        <p:spPr>
          <a:xfrm>
            <a:off x="6581775" y="34956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Gửi thông báo về các chương trình ưu đãi dành riêng cho sản phẩm người dùng đang quan tâm.</a:t>
            </a:r>
            <a:endParaRPr/>
          </a:p>
        </p:txBody>
      </p:sp>
      <p:sp>
        <p:nvSpPr>
          <p:cNvPr id="343" name="Google Shape;343;p30"/>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HỆ THỐNG THÔNG BÁO TỨC THỜI</a:t>
            </a:r>
            <a:endParaRPr/>
          </a:p>
        </p:txBody>
      </p:sp>
      <p:sp>
        <p:nvSpPr>
          <p:cNvPr id="344" name="Google Shape;344;p30"/>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30"/>
          <p:cNvSpPr txBox="1"/>
          <p:nvPr/>
        </p:nvSpPr>
        <p:spPr>
          <a:xfrm>
            <a:off x="1009650" y="30861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Cập nhật đơn hàng</a:t>
            </a:r>
            <a:endParaRPr/>
          </a:p>
        </p:txBody>
      </p:sp>
      <p:sp>
        <p:nvSpPr>
          <p:cNvPr id="346" name="Google Shape;346;p30"/>
          <p:cNvSpPr txBox="1"/>
          <p:nvPr/>
        </p:nvSpPr>
        <p:spPr>
          <a:xfrm>
            <a:off x="6581775" y="30861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Khuyến mãi cá nhân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0"/>
        <p:cNvGrpSpPr/>
        <p:nvPr/>
      </p:nvGrpSpPr>
      <p:grpSpPr>
        <a:xfrm>
          <a:off x="0" y="0"/>
          <a:ext cx="0" cy="0"/>
          <a:chOff x="0" y="0"/>
          <a:chExt cx="0" cy="0"/>
        </a:xfrm>
      </p:grpSpPr>
      <p:pic>
        <p:nvPicPr>
          <p:cNvPr id="351" name="Google Shape;351;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52" name="Google Shape;352;p31"/>
          <p:cNvSpPr/>
          <p:nvPr/>
        </p:nvSpPr>
        <p:spPr>
          <a:xfrm>
            <a:off x="5524500" y="2843212"/>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3" name="Google Shape;353;p31"/>
          <p:cNvSpPr txBox="1"/>
          <p:nvPr/>
        </p:nvSpPr>
        <p:spPr>
          <a:xfrm>
            <a:off x="3650694" y="3186112"/>
            <a:ext cx="4890611"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1E3A8A"/>
                </a:solidFill>
                <a:latin typeface="Montserrat"/>
                <a:ea typeface="Montserrat"/>
                <a:cs typeface="Montserrat"/>
                <a:sym typeface="Montserrat"/>
              </a:rPr>
              <a:t>CHƯƠNG IV</a:t>
            </a:r>
            <a:endParaRPr/>
          </a:p>
        </p:txBody>
      </p:sp>
      <p:sp>
        <p:nvSpPr>
          <p:cNvPr id="354" name="Google Shape;354;p31"/>
          <p:cNvSpPr txBox="1"/>
          <p:nvPr/>
        </p:nvSpPr>
        <p:spPr>
          <a:xfrm>
            <a:off x="3580685" y="4024312"/>
            <a:ext cx="5030628"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64748B"/>
                </a:solidFill>
                <a:latin typeface="Montserrat"/>
                <a:ea typeface="Montserrat"/>
                <a:cs typeface="Montserrat"/>
                <a:sym typeface="Montserrat"/>
              </a:rPr>
              <a:t>QUẢN TRỊ DOANH NGHIỆP THÔNG MINH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8"/>
        <p:cNvGrpSpPr/>
        <p:nvPr/>
      </p:nvGrpSpPr>
      <p:grpSpPr>
        <a:xfrm>
          <a:off x="0" y="0"/>
          <a:ext cx="0" cy="0"/>
          <a:chOff x="0" y="0"/>
          <a:chExt cx="0" cy="0"/>
        </a:xfrm>
      </p:grpSpPr>
      <p:pic>
        <p:nvPicPr>
          <p:cNvPr id="359" name="Google Shape;359;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60" name="Google Shape;360;p32" descr="image.png"/>
          <p:cNvPicPr preferRelativeResize="0"/>
          <p:nvPr/>
        </p:nvPicPr>
        <p:blipFill rotWithShape="1">
          <a:blip r:embed="rId4">
            <a:alphaModFix/>
          </a:blip>
          <a:srcRect/>
          <a:stretch/>
        </p:blipFill>
        <p:spPr>
          <a:xfrm>
            <a:off x="762000" y="2990850"/>
            <a:ext cx="5095875" cy="1704975"/>
          </a:xfrm>
          <a:prstGeom prst="rect">
            <a:avLst/>
          </a:prstGeom>
          <a:noFill/>
          <a:ln>
            <a:noFill/>
          </a:ln>
        </p:spPr>
      </p:pic>
      <p:pic>
        <p:nvPicPr>
          <p:cNvPr id="361" name="Google Shape;361;p32" descr="image.png"/>
          <p:cNvPicPr preferRelativeResize="0"/>
          <p:nvPr/>
        </p:nvPicPr>
        <p:blipFill rotWithShape="1">
          <a:blip r:embed="rId4">
            <a:alphaModFix/>
          </a:blip>
          <a:srcRect/>
          <a:stretch/>
        </p:blipFill>
        <p:spPr>
          <a:xfrm>
            <a:off x="6334125" y="2990850"/>
            <a:ext cx="5095875" cy="1704975"/>
          </a:xfrm>
          <a:prstGeom prst="rect">
            <a:avLst/>
          </a:prstGeom>
          <a:noFill/>
          <a:ln>
            <a:noFill/>
          </a:ln>
        </p:spPr>
      </p:pic>
      <p:sp>
        <p:nvSpPr>
          <p:cNvPr id="362" name="Google Shape;362;p32"/>
          <p:cNvSpPr txBox="1"/>
          <p:nvPr/>
        </p:nvSpPr>
        <p:spPr>
          <a:xfrm>
            <a:off x="1009650" y="36480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AI hỗ trợ Admin truy vấn các báo cáo về doanh thu, số lượng đơn hàng và giá trị đơn trung bình (AOV).</a:t>
            </a:r>
            <a:endParaRPr/>
          </a:p>
        </p:txBody>
      </p:sp>
      <p:sp>
        <p:nvSpPr>
          <p:cNvPr id="363" name="Google Shape;363;p32"/>
          <p:cNvSpPr txBox="1"/>
          <p:nvPr/>
        </p:nvSpPr>
        <p:spPr>
          <a:xfrm>
            <a:off x="6581775" y="36480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Tự động phát hiện và cảnh báo các sản phẩm sắp hết hàng hoặc tồn kho lâu ngày để Admin xử lý.</a:t>
            </a:r>
            <a:endParaRPr/>
          </a:p>
        </p:txBody>
      </p:sp>
      <p:sp>
        <p:nvSpPr>
          <p:cNvPr id="364" name="Google Shape;364;p32"/>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TRỢ LÝ PHÂN TÍCH DÀNH CHO QUẢN TRỊ VIÊN</a:t>
            </a:r>
            <a:endParaRPr/>
          </a:p>
        </p:txBody>
      </p:sp>
      <p:sp>
        <p:nvSpPr>
          <p:cNvPr id="365" name="Google Shape;365;p32"/>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6" name="Google Shape;366;p32"/>
          <p:cNvSpPr txBox="1"/>
          <p:nvPr/>
        </p:nvSpPr>
        <p:spPr>
          <a:xfrm>
            <a:off x="1009650" y="32385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Phân tích dữ liệu tự động</a:t>
            </a:r>
            <a:endParaRPr/>
          </a:p>
        </p:txBody>
      </p:sp>
      <p:sp>
        <p:nvSpPr>
          <p:cNvPr id="367" name="Google Shape;367;p32"/>
          <p:cNvSpPr txBox="1"/>
          <p:nvPr/>
        </p:nvSpPr>
        <p:spPr>
          <a:xfrm>
            <a:off x="6581775" y="32385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Giám sát kho hàng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1"/>
        <p:cNvGrpSpPr/>
        <p:nvPr/>
      </p:nvGrpSpPr>
      <p:grpSpPr>
        <a:xfrm>
          <a:off x="0" y="0"/>
          <a:ext cx="0" cy="0"/>
          <a:chOff x="0" y="0"/>
          <a:chExt cx="0" cy="0"/>
        </a:xfrm>
      </p:grpSpPr>
      <p:pic>
        <p:nvPicPr>
          <p:cNvPr id="372" name="Google Shape;372;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3" name="Google Shape;373;p33" descr="image.png"/>
          <p:cNvPicPr preferRelativeResize="0"/>
          <p:nvPr/>
        </p:nvPicPr>
        <p:blipFill rotWithShape="1">
          <a:blip r:embed="rId4">
            <a:alphaModFix/>
          </a:blip>
          <a:srcRect/>
          <a:stretch/>
        </p:blipFill>
        <p:spPr>
          <a:xfrm>
            <a:off x="762000" y="2143125"/>
            <a:ext cx="10668000" cy="1323975"/>
          </a:xfrm>
          <a:prstGeom prst="rect">
            <a:avLst/>
          </a:prstGeom>
          <a:noFill/>
          <a:ln>
            <a:noFill/>
          </a:ln>
        </p:spPr>
      </p:pic>
      <p:pic>
        <p:nvPicPr>
          <p:cNvPr id="374" name="Google Shape;374;p33" descr="image.png"/>
          <p:cNvPicPr preferRelativeResize="0"/>
          <p:nvPr/>
        </p:nvPicPr>
        <p:blipFill rotWithShape="1">
          <a:blip r:embed="rId5">
            <a:alphaModFix/>
          </a:blip>
          <a:srcRect/>
          <a:stretch/>
        </p:blipFill>
        <p:spPr>
          <a:xfrm>
            <a:off x="762000" y="3752850"/>
            <a:ext cx="5095875" cy="1790700"/>
          </a:xfrm>
          <a:prstGeom prst="rect">
            <a:avLst/>
          </a:prstGeom>
          <a:noFill/>
          <a:ln>
            <a:noFill/>
          </a:ln>
        </p:spPr>
      </p:pic>
      <p:pic>
        <p:nvPicPr>
          <p:cNvPr id="375" name="Google Shape;375;p33" descr="image.png"/>
          <p:cNvPicPr preferRelativeResize="0"/>
          <p:nvPr/>
        </p:nvPicPr>
        <p:blipFill rotWithShape="1">
          <a:blip r:embed="rId6">
            <a:alphaModFix/>
          </a:blip>
          <a:srcRect/>
          <a:stretch/>
        </p:blipFill>
        <p:spPr>
          <a:xfrm>
            <a:off x="6334125" y="3752850"/>
            <a:ext cx="5095875" cy="1790700"/>
          </a:xfrm>
          <a:prstGeom prst="rect">
            <a:avLst/>
          </a:prstGeom>
          <a:noFill/>
          <a:ln>
            <a:noFill/>
          </a:ln>
        </p:spPr>
      </p:pic>
      <p:sp>
        <p:nvSpPr>
          <p:cNvPr id="376" name="Google Shape;376;p33"/>
          <p:cNvSpPr txBox="1"/>
          <p:nvPr/>
        </p:nvSpPr>
        <p:spPr>
          <a:xfrm>
            <a:off x="1057275" y="2676525"/>
            <a:ext cx="10077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Admin có thể hỏi trực tiếp hệ thống AI để lấy số liệu thay vì phải thao tác qua nhiều bảng biểu.</a:t>
            </a:r>
            <a:endParaRPr/>
          </a:p>
        </p:txBody>
      </p:sp>
      <p:sp>
        <p:nvSpPr>
          <p:cNvPr id="377" name="Google Shape;377;p33"/>
          <p:cNvSpPr txBox="1"/>
          <p:nvPr/>
        </p:nvSpPr>
        <p:spPr>
          <a:xfrm>
            <a:off x="1009650" y="4191000"/>
            <a:ext cx="4600575" cy="9144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334155"/>
                </a:solidFill>
                <a:latin typeface="Open Sans"/>
                <a:ea typeface="Open Sans"/>
                <a:cs typeface="Open Sans"/>
                <a:sym typeface="Open Sans"/>
              </a:rPr>
              <a:t>Yêu cầu của Admin:</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334155"/>
                </a:solidFill>
                <a:latin typeface="Open Sans"/>
                <a:ea typeface="Open Sans"/>
                <a:cs typeface="Open Sans"/>
                <a:sym typeface="Open Sans"/>
              </a:rPr>
              <a:t> "Cho tôi biết doanh thu của các sản phẩm Adidas trong tuần qua."</a:t>
            </a:r>
            <a:endParaRPr/>
          </a:p>
        </p:txBody>
      </p:sp>
      <p:sp>
        <p:nvSpPr>
          <p:cNvPr id="378" name="Google Shape;378;p33"/>
          <p:cNvSpPr txBox="1"/>
          <p:nvPr/>
        </p:nvSpPr>
        <p:spPr>
          <a:xfrm>
            <a:off x="6581775" y="4191000"/>
            <a:ext cx="4600575" cy="91440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1" i="0" u="none" strike="noStrike" cap="none">
                <a:solidFill>
                  <a:srgbClr val="334155"/>
                </a:solidFill>
                <a:latin typeface="Open Sans"/>
                <a:ea typeface="Open Sans"/>
                <a:cs typeface="Open Sans"/>
                <a:sym typeface="Open Sans"/>
              </a:rPr>
              <a:t>AI phản hồi:</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334155"/>
                </a:solidFill>
                <a:latin typeface="Open Sans"/>
                <a:ea typeface="Open Sans"/>
                <a:cs typeface="Open Sans"/>
                <a:sym typeface="Open Sans"/>
              </a:rPr>
              <a:t> "Tổng doanh thu sản phẩm Adidas là 15.200.000 VNĐ với 12 đơn hàng thành công."</a:t>
            </a:r>
            <a:endParaRPr/>
          </a:p>
        </p:txBody>
      </p:sp>
      <p:sp>
        <p:nvSpPr>
          <p:cNvPr id="379" name="Google Shape;379;p33"/>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TRUY VẤN DỮ LIỆU BẰNG NGÔN NGỮ TỰ NHIÊN</a:t>
            </a:r>
            <a:endParaRPr/>
          </a:p>
        </p:txBody>
      </p:sp>
      <p:sp>
        <p:nvSpPr>
          <p:cNvPr id="380" name="Google Shape;380;p33"/>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pic>
        <p:nvPicPr>
          <p:cNvPr id="385" name="Google Shape;385;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86" name="Google Shape;386;p34"/>
          <p:cNvSpPr/>
          <p:nvPr/>
        </p:nvSpPr>
        <p:spPr>
          <a:xfrm>
            <a:off x="5524500" y="2843212"/>
            <a:ext cx="1143000" cy="571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7" name="Google Shape;387;p34"/>
          <p:cNvSpPr txBox="1"/>
          <p:nvPr/>
        </p:nvSpPr>
        <p:spPr>
          <a:xfrm>
            <a:off x="3775710" y="3186112"/>
            <a:ext cx="4640580" cy="838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000" b="1" i="0" u="none" strike="noStrike" cap="none">
                <a:solidFill>
                  <a:srgbClr val="1E3A8A"/>
                </a:solidFill>
                <a:latin typeface="Montserrat"/>
                <a:ea typeface="Montserrat"/>
                <a:cs typeface="Montserrat"/>
                <a:sym typeface="Montserrat"/>
              </a:rPr>
              <a:t>CHƯƠNG V</a:t>
            </a:r>
            <a:endParaRPr/>
          </a:p>
        </p:txBody>
      </p:sp>
      <p:sp>
        <p:nvSpPr>
          <p:cNvPr id="388" name="Google Shape;388;p34"/>
          <p:cNvSpPr txBox="1"/>
          <p:nvPr/>
        </p:nvSpPr>
        <p:spPr>
          <a:xfrm>
            <a:off x="4010739" y="4024312"/>
            <a:ext cx="4170521"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64748B"/>
                </a:solidFill>
                <a:latin typeface="Montserrat"/>
                <a:ea typeface="Montserrat"/>
                <a:cs typeface="Montserrat"/>
                <a:sym typeface="Montserrat"/>
              </a:rPr>
              <a:t>TRIỂN KHAI &amp; KẾT QUẢ ĐẠT ĐƯỢC</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2"/>
        <p:cNvGrpSpPr/>
        <p:nvPr/>
      </p:nvGrpSpPr>
      <p:grpSpPr>
        <a:xfrm>
          <a:off x="0" y="0"/>
          <a:ext cx="0" cy="0"/>
          <a:chOff x="0" y="0"/>
          <a:chExt cx="0" cy="0"/>
        </a:xfrm>
      </p:grpSpPr>
      <p:pic>
        <p:nvPicPr>
          <p:cNvPr id="393" name="Google Shape;393;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94" name="Google Shape;394;p35" descr="image.png"/>
          <p:cNvPicPr preferRelativeResize="0"/>
          <p:nvPr/>
        </p:nvPicPr>
        <p:blipFill rotWithShape="1">
          <a:blip r:embed="rId4">
            <a:alphaModFix/>
          </a:blip>
          <a:srcRect/>
          <a:stretch/>
        </p:blipFill>
        <p:spPr>
          <a:xfrm>
            <a:off x="762000" y="2838450"/>
            <a:ext cx="5095875" cy="2009775"/>
          </a:xfrm>
          <a:prstGeom prst="rect">
            <a:avLst/>
          </a:prstGeom>
          <a:noFill/>
          <a:ln>
            <a:noFill/>
          </a:ln>
        </p:spPr>
      </p:pic>
      <p:pic>
        <p:nvPicPr>
          <p:cNvPr id="395" name="Google Shape;395;p35" descr="image.png"/>
          <p:cNvPicPr preferRelativeResize="0"/>
          <p:nvPr/>
        </p:nvPicPr>
        <p:blipFill rotWithShape="1">
          <a:blip r:embed="rId4">
            <a:alphaModFix/>
          </a:blip>
          <a:srcRect/>
          <a:stretch/>
        </p:blipFill>
        <p:spPr>
          <a:xfrm>
            <a:off x="6334125" y="2838450"/>
            <a:ext cx="5095875" cy="2009775"/>
          </a:xfrm>
          <a:prstGeom prst="rect">
            <a:avLst/>
          </a:prstGeom>
          <a:noFill/>
          <a:ln>
            <a:noFill/>
          </a:ln>
        </p:spPr>
      </p:pic>
      <p:sp>
        <p:nvSpPr>
          <p:cNvPr id="396" name="Google Shape;396;p35"/>
          <p:cNvSpPr txBox="1"/>
          <p:nvPr/>
        </p:nvSpPr>
        <p:spPr>
          <a:xfrm>
            <a:off x="1009650" y="3495675"/>
            <a:ext cx="4600575"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Mỗi dịch vụ sở hữu Schema riêng biệt (User, Product, Order, v.v.), đảm bảo dữ liệu không bị chồng chéo.</a:t>
            </a:r>
            <a:endParaRPr/>
          </a:p>
        </p:txBody>
      </p:sp>
      <p:sp>
        <p:nvSpPr>
          <p:cNvPr id="397" name="Google Shape;397;p35"/>
          <p:cNvSpPr txBox="1"/>
          <p:nvPr/>
        </p:nvSpPr>
        <p:spPr>
          <a:xfrm>
            <a:off x="6581775" y="3495675"/>
            <a:ext cx="46005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Lưu trữ dữ liệu phi cấu trúc phục vụ riêng cho các tác vụ suy luận thông minh của AI Agent.</a:t>
            </a:r>
            <a:endParaRPr/>
          </a:p>
        </p:txBody>
      </p:sp>
      <p:sp>
        <p:nvSpPr>
          <p:cNvPr id="398" name="Google Shape;398;p35"/>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CƠ SỞ DỮ LIỆU &amp; QUẢN LÝ SCHEMA</a:t>
            </a:r>
            <a:endParaRPr/>
          </a:p>
        </p:txBody>
      </p:sp>
      <p:sp>
        <p:nvSpPr>
          <p:cNvPr id="399" name="Google Shape;399;p35"/>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35"/>
          <p:cNvSpPr txBox="1"/>
          <p:nvPr/>
        </p:nvSpPr>
        <p:spPr>
          <a:xfrm>
            <a:off x="1009650" y="30861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MySQL Microservices</a:t>
            </a:r>
            <a:endParaRPr/>
          </a:p>
        </p:txBody>
      </p:sp>
      <p:sp>
        <p:nvSpPr>
          <p:cNvPr id="401" name="Google Shape;401;p35"/>
          <p:cNvSpPr txBox="1"/>
          <p:nvPr/>
        </p:nvSpPr>
        <p:spPr>
          <a:xfrm>
            <a:off x="6581775" y="3086100"/>
            <a:ext cx="483060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Qdrant Vector Store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5"/>
        <p:cNvGrpSpPr/>
        <p:nvPr/>
      </p:nvGrpSpPr>
      <p:grpSpPr>
        <a:xfrm>
          <a:off x="0" y="0"/>
          <a:ext cx="0" cy="0"/>
          <a:chOff x="0" y="0"/>
          <a:chExt cx="0" cy="0"/>
        </a:xfrm>
      </p:grpSpPr>
      <p:pic>
        <p:nvPicPr>
          <p:cNvPr id="406" name="Google Shape;406;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07" name="Google Shape;407;p36" descr="image.png"/>
          <p:cNvPicPr preferRelativeResize="0"/>
          <p:nvPr/>
        </p:nvPicPr>
        <p:blipFill rotWithShape="1">
          <a:blip r:embed="rId4">
            <a:alphaModFix/>
          </a:blip>
          <a:srcRect/>
          <a:stretch/>
        </p:blipFill>
        <p:spPr>
          <a:xfrm>
            <a:off x="762000" y="2528887"/>
            <a:ext cx="3365450" cy="2628900"/>
          </a:xfrm>
          <a:prstGeom prst="rect">
            <a:avLst/>
          </a:prstGeom>
          <a:noFill/>
          <a:ln>
            <a:noFill/>
          </a:ln>
        </p:spPr>
      </p:pic>
      <p:pic>
        <p:nvPicPr>
          <p:cNvPr id="408" name="Google Shape;408;p36" descr="image.png"/>
          <p:cNvPicPr preferRelativeResize="0"/>
          <p:nvPr/>
        </p:nvPicPr>
        <p:blipFill rotWithShape="1">
          <a:blip r:embed="rId5">
            <a:alphaModFix/>
          </a:blip>
          <a:srcRect/>
          <a:stretch/>
        </p:blipFill>
        <p:spPr>
          <a:xfrm>
            <a:off x="4413200" y="2528887"/>
            <a:ext cx="3365450" cy="2628900"/>
          </a:xfrm>
          <a:prstGeom prst="rect">
            <a:avLst/>
          </a:prstGeom>
          <a:noFill/>
          <a:ln>
            <a:noFill/>
          </a:ln>
        </p:spPr>
      </p:pic>
      <p:pic>
        <p:nvPicPr>
          <p:cNvPr id="409" name="Google Shape;409;p36" descr="image.png"/>
          <p:cNvPicPr preferRelativeResize="0"/>
          <p:nvPr/>
        </p:nvPicPr>
        <p:blipFill rotWithShape="1">
          <a:blip r:embed="rId6">
            <a:alphaModFix/>
          </a:blip>
          <a:srcRect/>
          <a:stretch/>
        </p:blipFill>
        <p:spPr>
          <a:xfrm>
            <a:off x="8064400" y="2528887"/>
            <a:ext cx="3365599" cy="2628900"/>
          </a:xfrm>
          <a:prstGeom prst="rect">
            <a:avLst/>
          </a:prstGeom>
          <a:noFill/>
          <a:ln>
            <a:noFill/>
          </a:ln>
        </p:spPr>
      </p:pic>
      <p:pic>
        <p:nvPicPr>
          <p:cNvPr id="410" name="Google Shape;410;p36" descr="image.png"/>
          <p:cNvPicPr preferRelativeResize="0"/>
          <p:nvPr/>
        </p:nvPicPr>
        <p:blipFill rotWithShape="1">
          <a:blip r:embed="rId7">
            <a:alphaModFix/>
          </a:blip>
          <a:srcRect/>
          <a:stretch/>
        </p:blipFill>
        <p:spPr>
          <a:xfrm>
            <a:off x="2144613" y="2776537"/>
            <a:ext cx="600075" cy="476250"/>
          </a:xfrm>
          <a:prstGeom prst="rect">
            <a:avLst/>
          </a:prstGeom>
          <a:noFill/>
          <a:ln>
            <a:noFill/>
          </a:ln>
        </p:spPr>
      </p:pic>
      <p:sp>
        <p:nvSpPr>
          <p:cNvPr id="411" name="Google Shape;411;p36"/>
          <p:cNvSpPr txBox="1"/>
          <p:nvPr/>
        </p:nvSpPr>
        <p:spPr>
          <a:xfrm>
            <a:off x="1009650" y="3805237"/>
            <a:ext cx="287015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Container hóa toàn bộ hệ thống để đồng nhất môi trường triển khai.</a:t>
            </a:r>
            <a:endParaRPr/>
          </a:p>
        </p:txBody>
      </p:sp>
      <p:pic>
        <p:nvPicPr>
          <p:cNvPr id="412" name="Google Shape;412;p36" descr="image.png"/>
          <p:cNvPicPr preferRelativeResize="0"/>
          <p:nvPr/>
        </p:nvPicPr>
        <p:blipFill rotWithShape="1">
          <a:blip r:embed="rId8">
            <a:alphaModFix/>
          </a:blip>
          <a:srcRect/>
          <a:stretch/>
        </p:blipFill>
        <p:spPr>
          <a:xfrm>
            <a:off x="5867251" y="2776537"/>
            <a:ext cx="457200" cy="476250"/>
          </a:xfrm>
          <a:prstGeom prst="rect">
            <a:avLst/>
          </a:prstGeom>
          <a:noFill/>
          <a:ln>
            <a:noFill/>
          </a:ln>
        </p:spPr>
      </p:pic>
      <p:sp>
        <p:nvSpPr>
          <p:cNvPr id="413" name="Google Shape;413;p36"/>
          <p:cNvSpPr txBox="1"/>
          <p:nvPr/>
        </p:nvSpPr>
        <p:spPr>
          <a:xfrm>
            <a:off x="4660850" y="3805237"/>
            <a:ext cx="287015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Tự động hóa Build &amp; Test mỗi khi cập nhật mã nguồn mới.</a:t>
            </a:r>
            <a:endParaRPr/>
          </a:p>
        </p:txBody>
      </p:sp>
      <p:pic>
        <p:nvPicPr>
          <p:cNvPr id="414" name="Google Shape;414;p36" descr="image.png"/>
          <p:cNvPicPr preferRelativeResize="0"/>
          <p:nvPr/>
        </p:nvPicPr>
        <p:blipFill rotWithShape="1">
          <a:blip r:embed="rId9">
            <a:alphaModFix/>
          </a:blip>
          <a:srcRect/>
          <a:stretch/>
        </p:blipFill>
        <p:spPr>
          <a:xfrm>
            <a:off x="9537650" y="2776537"/>
            <a:ext cx="419100" cy="476250"/>
          </a:xfrm>
          <a:prstGeom prst="rect">
            <a:avLst/>
          </a:prstGeom>
          <a:noFill/>
          <a:ln>
            <a:noFill/>
          </a:ln>
        </p:spPr>
      </p:pic>
      <p:sp>
        <p:nvSpPr>
          <p:cNvPr id="415" name="Google Shape;415;p36"/>
          <p:cNvSpPr txBox="1"/>
          <p:nvPr/>
        </p:nvSpPr>
        <p:spPr>
          <a:xfrm>
            <a:off x="8312050" y="3805237"/>
            <a:ext cx="2870299"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Kiểm tra Unit Test nghiêm ngặt trước khi tích hợp dịch vụ.</a:t>
            </a:r>
            <a:endParaRPr/>
          </a:p>
        </p:txBody>
      </p:sp>
      <p:sp>
        <p:nvSpPr>
          <p:cNvPr id="416" name="Google Shape;416;p36"/>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QUY TRÌNH DEVOPS &amp; CI/CD</a:t>
            </a:r>
            <a:endParaRPr/>
          </a:p>
        </p:txBody>
      </p:sp>
      <p:sp>
        <p:nvSpPr>
          <p:cNvPr id="417" name="Google Shape;417;p36"/>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8" name="Google Shape;418;p36"/>
          <p:cNvSpPr txBox="1"/>
          <p:nvPr/>
        </p:nvSpPr>
        <p:spPr>
          <a:xfrm>
            <a:off x="937896" y="3395662"/>
            <a:ext cx="3013657"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Docker Compose</a:t>
            </a:r>
            <a:endParaRPr/>
          </a:p>
        </p:txBody>
      </p:sp>
      <p:sp>
        <p:nvSpPr>
          <p:cNvPr id="419" name="Google Shape;419;p36"/>
          <p:cNvSpPr txBox="1"/>
          <p:nvPr/>
        </p:nvSpPr>
        <p:spPr>
          <a:xfrm>
            <a:off x="4589096" y="3395662"/>
            <a:ext cx="3013657"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GitHub Actions</a:t>
            </a:r>
            <a:endParaRPr/>
          </a:p>
        </p:txBody>
      </p:sp>
      <p:sp>
        <p:nvSpPr>
          <p:cNvPr id="420" name="Google Shape;420;p36"/>
          <p:cNvSpPr txBox="1"/>
          <p:nvPr/>
        </p:nvSpPr>
        <p:spPr>
          <a:xfrm>
            <a:off x="8240293" y="3395662"/>
            <a:ext cx="3013814"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Quality Gate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4"/>
        <p:cNvGrpSpPr/>
        <p:nvPr/>
      </p:nvGrpSpPr>
      <p:grpSpPr>
        <a:xfrm>
          <a:off x="0" y="0"/>
          <a:ext cx="0" cy="0"/>
          <a:chOff x="0" y="0"/>
          <a:chExt cx="0" cy="0"/>
        </a:xfrm>
      </p:grpSpPr>
      <p:pic>
        <p:nvPicPr>
          <p:cNvPr id="425" name="Google Shape;425;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26" name="Google Shape;426;p37" descr="image.png"/>
          <p:cNvPicPr preferRelativeResize="0"/>
          <p:nvPr/>
        </p:nvPicPr>
        <p:blipFill rotWithShape="1">
          <a:blip r:embed="rId4">
            <a:alphaModFix/>
          </a:blip>
          <a:srcRect/>
          <a:stretch/>
        </p:blipFill>
        <p:spPr>
          <a:xfrm>
            <a:off x="762000" y="2176462"/>
            <a:ext cx="5095875" cy="3333750"/>
          </a:xfrm>
          <a:prstGeom prst="rect">
            <a:avLst/>
          </a:prstGeom>
          <a:noFill/>
          <a:ln>
            <a:noFill/>
          </a:ln>
        </p:spPr>
      </p:pic>
      <p:sp>
        <p:nvSpPr>
          <p:cNvPr id="427" name="Google Shape;427;p37"/>
          <p:cNvSpPr txBox="1"/>
          <p:nvPr/>
        </p:nvSpPr>
        <p:spPr>
          <a:xfrm>
            <a:off x="1600200" y="3690937"/>
            <a:ext cx="34194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Open Sans"/>
                <a:ea typeface="Open Sans"/>
                <a:cs typeface="Open Sans"/>
                <a:sym typeface="Open Sans"/>
              </a:rPr>
              <a:t>GIAO DIỆN TRANG CHỦ &amp; DANH MỤC</a:t>
            </a:r>
            <a:endParaRPr/>
          </a:p>
        </p:txBody>
      </p:sp>
      <p:sp>
        <p:nvSpPr>
          <p:cNvPr id="428" name="Google Shape;428;p37"/>
          <p:cNvSpPr txBox="1"/>
          <p:nvPr/>
        </p:nvSpPr>
        <p:spPr>
          <a:xfrm>
            <a:off x="6638925" y="2633662"/>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429" name="Google Shape;429;p37"/>
          <p:cNvSpPr txBox="1"/>
          <p:nvPr/>
        </p:nvSpPr>
        <p:spPr>
          <a:xfrm>
            <a:off x="6715125" y="2633662"/>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Xây dựng bằng </a:t>
            </a:r>
            <a:r>
              <a:rPr lang="en-US" sz="1500" b="1" i="0" u="none" strike="noStrike" cap="none">
                <a:solidFill>
                  <a:srgbClr val="334155"/>
                </a:solidFill>
                <a:latin typeface="Open Sans"/>
                <a:ea typeface="Open Sans"/>
                <a:cs typeface="Open Sans"/>
                <a:sym typeface="Open Sans"/>
              </a:rPr>
              <a:t>Next.js 16</a:t>
            </a:r>
            <a:r>
              <a:rPr lang="en-US" sz="1500" b="0" i="0" u="none" strike="noStrike" cap="none">
                <a:solidFill>
                  <a:srgbClr val="334155"/>
                </a:solidFill>
                <a:latin typeface="Open Sans"/>
                <a:ea typeface="Open Sans"/>
                <a:cs typeface="Open Sans"/>
                <a:sym typeface="Open Sans"/>
              </a:rPr>
              <a:t> hiện đại.</a:t>
            </a:r>
            <a:endParaRPr/>
          </a:p>
        </p:txBody>
      </p:sp>
      <p:sp>
        <p:nvSpPr>
          <p:cNvPr id="430" name="Google Shape;430;p37"/>
          <p:cNvSpPr txBox="1"/>
          <p:nvPr/>
        </p:nvSpPr>
        <p:spPr>
          <a:xfrm>
            <a:off x="6638925" y="3081337"/>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431" name="Google Shape;431;p37"/>
          <p:cNvSpPr txBox="1"/>
          <p:nvPr/>
        </p:nvSpPr>
        <p:spPr>
          <a:xfrm>
            <a:off x="6715125" y="3081337"/>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Tốc độ tải trang nhanh, chuẩn SEO.</a:t>
            </a:r>
            <a:endParaRPr/>
          </a:p>
        </p:txBody>
      </p:sp>
      <p:sp>
        <p:nvSpPr>
          <p:cNvPr id="432" name="Google Shape;432;p37"/>
          <p:cNvSpPr txBox="1"/>
          <p:nvPr/>
        </p:nvSpPr>
        <p:spPr>
          <a:xfrm>
            <a:off x="6638925" y="3529012"/>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433" name="Google Shape;433;p37"/>
          <p:cNvSpPr txBox="1"/>
          <p:nvPr/>
        </p:nvSpPr>
        <p:spPr>
          <a:xfrm>
            <a:off x="6715125" y="3529012"/>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Tương thích hoàn toàn với mọi thiết bị di động.</a:t>
            </a:r>
            <a:endParaRPr/>
          </a:p>
        </p:txBody>
      </p:sp>
      <p:sp>
        <p:nvSpPr>
          <p:cNvPr id="434" name="Google Shape;434;p37"/>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GIAO DIỆN WEBSITE TMĐT - PHÍA KHÁCH HÀNG</a:t>
            </a:r>
            <a:endParaRPr/>
          </a:p>
        </p:txBody>
      </p:sp>
      <p:sp>
        <p:nvSpPr>
          <p:cNvPr id="435" name="Google Shape;435;p37"/>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6" name="Google Shape;436;p37"/>
          <p:cNvSpPr txBox="1"/>
          <p:nvPr/>
        </p:nvSpPr>
        <p:spPr>
          <a:xfrm>
            <a:off x="6334125" y="2176462"/>
            <a:ext cx="5350668"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Trải nghiệm mua sắm</a:t>
            </a:r>
            <a:endParaRPr/>
          </a:p>
        </p:txBody>
      </p:sp>
      <p:pic>
        <p:nvPicPr>
          <p:cNvPr id="3" name="Picture 2">
            <a:extLst>
              <a:ext uri="{FF2B5EF4-FFF2-40B4-BE49-F238E27FC236}">
                <a16:creationId xmlns:a16="http://schemas.microsoft.com/office/drawing/2014/main" id="{F7FD91B1-4FD6-25D6-ABDC-617E62DD7535}"/>
              </a:ext>
            </a:extLst>
          </p:cNvPr>
          <p:cNvPicPr>
            <a:picLocks noChangeAspect="1"/>
          </p:cNvPicPr>
          <p:nvPr/>
        </p:nvPicPr>
        <p:blipFill>
          <a:blip r:embed="rId5"/>
          <a:stretch>
            <a:fillRect/>
          </a:stretch>
        </p:blipFill>
        <p:spPr>
          <a:xfrm>
            <a:off x="84746" y="2108833"/>
            <a:ext cx="6163654" cy="340137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0"/>
        <p:cNvGrpSpPr/>
        <p:nvPr/>
      </p:nvGrpSpPr>
      <p:grpSpPr>
        <a:xfrm>
          <a:off x="0" y="0"/>
          <a:ext cx="0" cy="0"/>
          <a:chOff x="0" y="0"/>
          <a:chExt cx="0" cy="0"/>
        </a:xfrm>
      </p:grpSpPr>
      <p:pic>
        <p:nvPicPr>
          <p:cNvPr id="441" name="Google Shape;441;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2" name="Google Shape;442;p38" descr="image.png"/>
          <p:cNvPicPr preferRelativeResize="0"/>
          <p:nvPr/>
        </p:nvPicPr>
        <p:blipFill rotWithShape="1">
          <a:blip r:embed="rId4">
            <a:alphaModFix/>
          </a:blip>
          <a:srcRect/>
          <a:stretch/>
        </p:blipFill>
        <p:spPr>
          <a:xfrm>
            <a:off x="6334125" y="2176462"/>
            <a:ext cx="5095875" cy="3333750"/>
          </a:xfrm>
          <a:prstGeom prst="rect">
            <a:avLst/>
          </a:prstGeom>
          <a:noFill/>
          <a:ln>
            <a:noFill/>
          </a:ln>
        </p:spPr>
      </p:pic>
      <p:sp>
        <p:nvSpPr>
          <p:cNvPr id="443" name="Google Shape;443;p38"/>
          <p:cNvSpPr txBox="1"/>
          <p:nvPr/>
        </p:nvSpPr>
        <p:spPr>
          <a:xfrm>
            <a:off x="7553325" y="3690937"/>
            <a:ext cx="26574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94A3B8"/>
                </a:solidFill>
                <a:latin typeface="Open Sans"/>
                <a:ea typeface="Open Sans"/>
                <a:cs typeface="Open Sans"/>
                <a:sym typeface="Open Sans"/>
              </a:rPr>
              <a:t>GIAO DIỆN CHATBOT TƯ VẤN</a:t>
            </a:r>
            <a:endParaRPr/>
          </a:p>
        </p:txBody>
      </p:sp>
      <p:sp>
        <p:nvSpPr>
          <p:cNvPr id="444" name="Google Shape;444;p38"/>
          <p:cNvSpPr txBox="1"/>
          <p:nvPr/>
        </p:nvSpPr>
        <p:spPr>
          <a:xfrm>
            <a:off x="1066800" y="2633662"/>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445" name="Google Shape;445;p38"/>
          <p:cNvSpPr txBox="1"/>
          <p:nvPr/>
        </p:nvSpPr>
        <p:spPr>
          <a:xfrm>
            <a:off x="1143000" y="2633662"/>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Widget chat nhúng trực tiếp trên website.</a:t>
            </a:r>
            <a:endParaRPr/>
          </a:p>
        </p:txBody>
      </p:sp>
      <p:sp>
        <p:nvSpPr>
          <p:cNvPr id="446" name="Google Shape;446;p38"/>
          <p:cNvSpPr txBox="1"/>
          <p:nvPr/>
        </p:nvSpPr>
        <p:spPr>
          <a:xfrm>
            <a:off x="1066800" y="3081337"/>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447" name="Google Shape;447;p38"/>
          <p:cNvSpPr txBox="1"/>
          <p:nvPr/>
        </p:nvSpPr>
        <p:spPr>
          <a:xfrm>
            <a:off x="1143000" y="3081337"/>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Kết nối thông suốt với Workflow n8n.</a:t>
            </a:r>
            <a:endParaRPr/>
          </a:p>
        </p:txBody>
      </p:sp>
      <p:sp>
        <p:nvSpPr>
          <p:cNvPr id="448" name="Google Shape;448;p38"/>
          <p:cNvSpPr txBox="1"/>
          <p:nvPr/>
        </p:nvSpPr>
        <p:spPr>
          <a:xfrm>
            <a:off x="1066800" y="3529012"/>
            <a:ext cx="762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334155"/>
                </a:solidFill>
                <a:latin typeface="Open Sans"/>
                <a:ea typeface="Open Sans"/>
                <a:cs typeface="Open Sans"/>
                <a:sym typeface="Open Sans"/>
              </a:rPr>
              <a:t>•</a:t>
            </a:r>
            <a:endParaRPr/>
          </a:p>
        </p:txBody>
      </p:sp>
      <p:sp>
        <p:nvSpPr>
          <p:cNvPr id="449" name="Google Shape;449;p38"/>
          <p:cNvSpPr txBox="1"/>
          <p:nvPr/>
        </p:nvSpPr>
        <p:spPr>
          <a:xfrm>
            <a:off x="1143000" y="3529012"/>
            <a:ext cx="4714875" cy="304800"/>
          </a:xfrm>
          <a:prstGeom prst="rect">
            <a:avLst/>
          </a:prstGeom>
          <a:noFill/>
          <a:ln>
            <a:noFill/>
          </a:ln>
        </p:spPr>
        <p:txBody>
          <a:bodyPr spcFirstLastPara="1" wrap="square" lIns="7620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Hiển thị thẻ sản phẩm trực quan ngay trong hội thoại.</a:t>
            </a:r>
            <a:endParaRPr/>
          </a:p>
        </p:txBody>
      </p:sp>
      <p:sp>
        <p:nvSpPr>
          <p:cNvPr id="450" name="Google Shape;450;p38"/>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GIAO DIỆN TRỢ LÝ ẢO AI CHAT</a:t>
            </a:r>
            <a:endParaRPr/>
          </a:p>
        </p:txBody>
      </p:sp>
      <p:sp>
        <p:nvSpPr>
          <p:cNvPr id="451" name="Google Shape;451;p38"/>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38"/>
          <p:cNvSpPr txBox="1"/>
          <p:nvPr/>
        </p:nvSpPr>
        <p:spPr>
          <a:xfrm>
            <a:off x="762000" y="2176462"/>
            <a:ext cx="5350668"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0F172A"/>
                </a:solidFill>
                <a:latin typeface="Montserrat"/>
                <a:ea typeface="Montserrat"/>
                <a:cs typeface="Montserrat"/>
                <a:sym typeface="Montserrat"/>
              </a:rPr>
              <a:t>Tương tác thời gian thực</a:t>
            </a:r>
            <a:endParaRPr/>
          </a:p>
        </p:txBody>
      </p:sp>
      <p:pic>
        <p:nvPicPr>
          <p:cNvPr id="2" name="Picture 1">
            <a:extLst>
              <a:ext uri="{FF2B5EF4-FFF2-40B4-BE49-F238E27FC236}">
                <a16:creationId xmlns:a16="http://schemas.microsoft.com/office/drawing/2014/main" id="{AA0FD2BD-645B-DE64-3C29-B88F42E48402}"/>
              </a:ext>
            </a:extLst>
          </p:cNvPr>
          <p:cNvPicPr>
            <a:picLocks noChangeAspect="1"/>
          </p:cNvPicPr>
          <p:nvPr/>
        </p:nvPicPr>
        <p:blipFill>
          <a:blip r:embed="rId5"/>
          <a:stretch>
            <a:fillRect/>
          </a:stretch>
        </p:blipFill>
        <p:spPr>
          <a:xfrm>
            <a:off x="5676235" y="1943101"/>
            <a:ext cx="6411654" cy="356711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6"/>
        <p:cNvGrpSpPr/>
        <p:nvPr/>
      </p:nvGrpSpPr>
      <p:grpSpPr>
        <a:xfrm>
          <a:off x="0" y="0"/>
          <a:ext cx="0" cy="0"/>
          <a:chOff x="0" y="0"/>
          <a:chExt cx="0" cy="0"/>
        </a:xfrm>
      </p:grpSpPr>
      <p:pic>
        <p:nvPicPr>
          <p:cNvPr id="457" name="Google Shape;457;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58" name="Google Shape;458;p39" descr="image.png"/>
          <p:cNvPicPr preferRelativeResize="0"/>
          <p:nvPr/>
        </p:nvPicPr>
        <p:blipFill rotWithShape="1">
          <a:blip r:embed="rId4">
            <a:alphaModFix/>
          </a:blip>
          <a:srcRect/>
          <a:stretch/>
        </p:blipFill>
        <p:spPr>
          <a:xfrm>
            <a:off x="762000" y="2566987"/>
            <a:ext cx="10668000" cy="304800"/>
          </a:xfrm>
          <a:prstGeom prst="rect">
            <a:avLst/>
          </a:prstGeom>
          <a:noFill/>
          <a:ln>
            <a:noFill/>
          </a:ln>
        </p:spPr>
      </p:pic>
      <p:pic>
        <p:nvPicPr>
          <p:cNvPr id="459" name="Google Shape;459;p39" descr="image.png"/>
          <p:cNvPicPr preferRelativeResize="0"/>
          <p:nvPr/>
        </p:nvPicPr>
        <p:blipFill rotWithShape="1">
          <a:blip r:embed="rId4">
            <a:alphaModFix/>
          </a:blip>
          <a:srcRect/>
          <a:stretch/>
        </p:blipFill>
        <p:spPr>
          <a:xfrm>
            <a:off x="762000" y="3395662"/>
            <a:ext cx="10668000" cy="304800"/>
          </a:xfrm>
          <a:prstGeom prst="rect">
            <a:avLst/>
          </a:prstGeom>
          <a:noFill/>
          <a:ln>
            <a:noFill/>
          </a:ln>
        </p:spPr>
      </p:pic>
      <p:pic>
        <p:nvPicPr>
          <p:cNvPr id="460" name="Google Shape;460;p39" descr="image.png"/>
          <p:cNvPicPr preferRelativeResize="0"/>
          <p:nvPr/>
        </p:nvPicPr>
        <p:blipFill rotWithShape="1">
          <a:blip r:embed="rId4">
            <a:alphaModFix/>
          </a:blip>
          <a:srcRect/>
          <a:stretch/>
        </p:blipFill>
        <p:spPr>
          <a:xfrm>
            <a:off x="762000" y="4224337"/>
            <a:ext cx="10668000" cy="304800"/>
          </a:xfrm>
          <a:prstGeom prst="rect">
            <a:avLst/>
          </a:prstGeom>
          <a:noFill/>
          <a:ln>
            <a:noFill/>
          </a:ln>
        </p:spPr>
      </p:pic>
      <p:pic>
        <p:nvPicPr>
          <p:cNvPr id="461" name="Google Shape;461;p39" descr="image.png"/>
          <p:cNvPicPr preferRelativeResize="0"/>
          <p:nvPr/>
        </p:nvPicPr>
        <p:blipFill rotWithShape="1">
          <a:blip r:embed="rId5">
            <a:alphaModFix/>
          </a:blip>
          <a:srcRect/>
          <a:stretch/>
        </p:blipFill>
        <p:spPr>
          <a:xfrm>
            <a:off x="771525" y="2576512"/>
            <a:ext cx="4791967" cy="285750"/>
          </a:xfrm>
          <a:prstGeom prst="rect">
            <a:avLst/>
          </a:prstGeom>
          <a:noFill/>
          <a:ln>
            <a:noFill/>
          </a:ln>
        </p:spPr>
      </p:pic>
      <p:pic>
        <p:nvPicPr>
          <p:cNvPr id="462" name="Google Shape;462;p39" descr="image.png"/>
          <p:cNvPicPr preferRelativeResize="0"/>
          <p:nvPr/>
        </p:nvPicPr>
        <p:blipFill rotWithShape="1">
          <a:blip r:embed="rId6">
            <a:alphaModFix/>
          </a:blip>
          <a:srcRect/>
          <a:stretch/>
        </p:blipFill>
        <p:spPr>
          <a:xfrm>
            <a:off x="771525" y="3405187"/>
            <a:ext cx="6389340" cy="285750"/>
          </a:xfrm>
          <a:prstGeom prst="rect">
            <a:avLst/>
          </a:prstGeom>
          <a:noFill/>
          <a:ln>
            <a:noFill/>
          </a:ln>
        </p:spPr>
      </p:pic>
      <p:pic>
        <p:nvPicPr>
          <p:cNvPr id="463" name="Google Shape;463;p39" descr="image.png"/>
          <p:cNvPicPr preferRelativeResize="0"/>
          <p:nvPr/>
        </p:nvPicPr>
        <p:blipFill rotWithShape="1">
          <a:blip r:embed="rId7">
            <a:alphaModFix/>
          </a:blip>
          <a:srcRect/>
          <a:stretch/>
        </p:blipFill>
        <p:spPr>
          <a:xfrm>
            <a:off x="771525" y="4233862"/>
            <a:ext cx="9051577" cy="285750"/>
          </a:xfrm>
          <a:prstGeom prst="rect">
            <a:avLst/>
          </a:prstGeom>
          <a:noFill/>
          <a:ln>
            <a:noFill/>
          </a:ln>
        </p:spPr>
      </p:pic>
      <p:sp>
        <p:nvSpPr>
          <p:cNvPr id="464" name="Google Shape;464;p39"/>
          <p:cNvSpPr txBox="1"/>
          <p:nvPr/>
        </p:nvSpPr>
        <p:spPr>
          <a:xfrm>
            <a:off x="762000" y="2281237"/>
            <a:ext cx="106680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Open Sans SemiBold"/>
                <a:ea typeface="Open Sans SemiBold"/>
                <a:cs typeface="Open Sans SemiBold"/>
                <a:sym typeface="Open Sans SemiBold"/>
              </a:rPr>
              <a:t>Advisor Agent (Tư vấn &amp; Gợi ý sản phẩm)</a:t>
            </a:r>
            <a:endParaRPr/>
          </a:p>
        </p:txBody>
      </p:sp>
      <p:sp>
        <p:nvSpPr>
          <p:cNvPr id="465" name="Google Shape;465;p39"/>
          <p:cNvSpPr txBox="1"/>
          <p:nvPr/>
        </p:nvSpPr>
        <p:spPr>
          <a:xfrm>
            <a:off x="762000" y="3109912"/>
            <a:ext cx="106680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Open Sans SemiBold"/>
                <a:ea typeface="Open Sans SemiBold"/>
                <a:cs typeface="Open Sans SemiBold"/>
                <a:sym typeface="Open Sans SemiBold"/>
              </a:rPr>
              <a:t>Logistics Agent (Tra cứu chính sách RAG)</a:t>
            </a:r>
            <a:endParaRPr/>
          </a:p>
        </p:txBody>
      </p:sp>
      <p:sp>
        <p:nvSpPr>
          <p:cNvPr id="466" name="Google Shape;466;p39"/>
          <p:cNvSpPr txBox="1"/>
          <p:nvPr/>
        </p:nvSpPr>
        <p:spPr>
          <a:xfrm>
            <a:off x="762000" y="3938587"/>
            <a:ext cx="1066800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E293B"/>
                </a:solidFill>
                <a:latin typeface="Open Sans SemiBold"/>
                <a:ea typeface="Open Sans SemiBold"/>
                <a:cs typeface="Open Sans SemiBold"/>
                <a:sym typeface="Open Sans SemiBold"/>
              </a:rPr>
              <a:t>Admin Agent (Tổng hợp báo cáo dữ liệu)</a:t>
            </a:r>
            <a:endParaRPr/>
          </a:p>
        </p:txBody>
      </p:sp>
      <p:sp>
        <p:nvSpPr>
          <p:cNvPr id="467" name="Google Shape;467;p39"/>
          <p:cNvSpPr txBox="1"/>
          <p:nvPr/>
        </p:nvSpPr>
        <p:spPr>
          <a:xfrm>
            <a:off x="762000" y="4910137"/>
            <a:ext cx="106680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64748B"/>
                </a:solidFill>
                <a:latin typeface="Open Sans"/>
                <a:ea typeface="Open Sans"/>
                <a:cs typeface="Open Sans"/>
                <a:sym typeface="Open Sans"/>
              </a:rPr>
              <a:t>Thời gian phản hồi ổn định đảm bảo trải nghiệm người dùng không bị gián đoạn.</a:t>
            </a:r>
            <a:endParaRPr/>
          </a:p>
        </p:txBody>
      </p:sp>
      <p:sp>
        <p:nvSpPr>
          <p:cNvPr id="468" name="Google Shape;468;p39"/>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HIỆU NĂNG PHẢN HỒI CỦA AI AGENT</a:t>
            </a:r>
            <a:endParaRPr/>
          </a:p>
        </p:txBody>
      </p:sp>
      <p:sp>
        <p:nvSpPr>
          <p:cNvPr id="469" name="Google Shape;469;p39"/>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3"/>
        <p:cNvGrpSpPr/>
        <p:nvPr/>
      </p:nvGrpSpPr>
      <p:grpSpPr>
        <a:xfrm>
          <a:off x="0" y="0"/>
          <a:ext cx="0" cy="0"/>
          <a:chOff x="0" y="0"/>
          <a:chExt cx="0" cy="0"/>
        </a:xfrm>
      </p:grpSpPr>
      <p:pic>
        <p:nvPicPr>
          <p:cNvPr id="474" name="Google Shape;474;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75" name="Google Shape;475;p40" descr="image.png"/>
          <p:cNvPicPr preferRelativeResize="0"/>
          <p:nvPr/>
        </p:nvPicPr>
        <p:blipFill rotWithShape="1">
          <a:blip r:embed="rId4">
            <a:alphaModFix/>
          </a:blip>
          <a:srcRect/>
          <a:stretch/>
        </p:blipFill>
        <p:spPr>
          <a:xfrm>
            <a:off x="762000" y="4486275"/>
            <a:ext cx="10668000" cy="1323975"/>
          </a:xfrm>
          <a:prstGeom prst="rect">
            <a:avLst/>
          </a:prstGeom>
          <a:noFill/>
          <a:ln>
            <a:noFill/>
          </a:ln>
        </p:spPr>
      </p:pic>
      <p:pic>
        <p:nvPicPr>
          <p:cNvPr id="476" name="Google Shape;476;p40" descr="image.png"/>
          <p:cNvPicPr preferRelativeResize="0"/>
          <p:nvPr/>
        </p:nvPicPr>
        <p:blipFill rotWithShape="1">
          <a:blip r:embed="rId5">
            <a:alphaModFix/>
          </a:blip>
          <a:srcRect/>
          <a:stretch/>
        </p:blipFill>
        <p:spPr>
          <a:xfrm>
            <a:off x="762000" y="1876425"/>
            <a:ext cx="5095875" cy="2228850"/>
          </a:xfrm>
          <a:prstGeom prst="rect">
            <a:avLst/>
          </a:prstGeom>
          <a:noFill/>
          <a:ln>
            <a:noFill/>
          </a:ln>
        </p:spPr>
      </p:pic>
      <p:pic>
        <p:nvPicPr>
          <p:cNvPr id="477" name="Google Shape;477;p40" descr="image.png"/>
          <p:cNvPicPr preferRelativeResize="0"/>
          <p:nvPr/>
        </p:nvPicPr>
        <p:blipFill rotWithShape="1">
          <a:blip r:embed="rId6">
            <a:alphaModFix/>
          </a:blip>
          <a:srcRect/>
          <a:stretch/>
        </p:blipFill>
        <p:spPr>
          <a:xfrm>
            <a:off x="6334125" y="1876425"/>
            <a:ext cx="5095875" cy="2228850"/>
          </a:xfrm>
          <a:prstGeom prst="rect">
            <a:avLst/>
          </a:prstGeom>
          <a:noFill/>
          <a:ln>
            <a:noFill/>
          </a:ln>
        </p:spPr>
      </p:pic>
      <p:sp>
        <p:nvSpPr>
          <p:cNvPr id="478" name="Google Shape;478;p40"/>
          <p:cNvSpPr txBox="1"/>
          <p:nvPr/>
        </p:nvSpPr>
        <p:spPr>
          <a:xfrm>
            <a:off x="1057275" y="5019675"/>
            <a:ext cx="100774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a:ea typeface="Open Sans"/>
                <a:cs typeface="Open Sans"/>
                <a:sym typeface="Open Sans"/>
              </a:rPr>
              <a:t>Mọi quy trình từ nghiệp vụ Microservices đến logic suy luận của AI đều đã được kiểm tra nghiêm ngặt.</a:t>
            </a:r>
            <a:endParaRPr/>
          </a:p>
        </p:txBody>
      </p:sp>
      <p:sp>
        <p:nvSpPr>
          <p:cNvPr id="479" name="Google Shape;479;p40"/>
          <p:cNvSpPr txBox="1"/>
          <p:nvPr/>
        </p:nvSpPr>
        <p:spPr>
          <a:xfrm>
            <a:off x="1009650" y="2124075"/>
            <a:ext cx="4600575"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10B981"/>
                </a:solidFill>
                <a:latin typeface="Open Sans"/>
                <a:ea typeface="Open Sans"/>
                <a:cs typeface="Open Sans"/>
                <a:sym typeface="Open Sans"/>
              </a:rPr>
              <a:t>183</a:t>
            </a:r>
            <a:endParaRPr/>
          </a:p>
        </p:txBody>
      </p:sp>
      <p:sp>
        <p:nvSpPr>
          <p:cNvPr id="480" name="Google Shape;480;p40"/>
          <p:cNvSpPr txBox="1"/>
          <p:nvPr/>
        </p:nvSpPr>
        <p:spPr>
          <a:xfrm>
            <a:off x="1009650" y="3362325"/>
            <a:ext cx="460057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Test Cases tự động</a:t>
            </a:r>
            <a:endParaRPr/>
          </a:p>
        </p:txBody>
      </p:sp>
      <p:sp>
        <p:nvSpPr>
          <p:cNvPr id="481" name="Google Shape;481;p40"/>
          <p:cNvSpPr txBox="1"/>
          <p:nvPr/>
        </p:nvSpPr>
        <p:spPr>
          <a:xfrm>
            <a:off x="6581775" y="2124075"/>
            <a:ext cx="4600575"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10B981"/>
                </a:solidFill>
                <a:latin typeface="Open Sans"/>
                <a:ea typeface="Open Sans"/>
                <a:cs typeface="Open Sans"/>
                <a:sym typeface="Open Sans"/>
              </a:rPr>
              <a:t>100%</a:t>
            </a:r>
            <a:endParaRPr/>
          </a:p>
        </p:txBody>
      </p:sp>
      <p:sp>
        <p:nvSpPr>
          <p:cNvPr id="482" name="Google Shape;482;p40"/>
          <p:cNvSpPr txBox="1"/>
          <p:nvPr/>
        </p:nvSpPr>
        <p:spPr>
          <a:xfrm>
            <a:off x="6581775" y="3362325"/>
            <a:ext cx="4600575"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Tỷ lệ Thành công (Pass)</a:t>
            </a:r>
            <a:endParaRPr/>
          </a:p>
        </p:txBody>
      </p:sp>
      <p:sp>
        <p:nvSpPr>
          <p:cNvPr id="483" name="Google Shape;483;p40"/>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TỔNG KẾT KẾT QUẢ KIỂM THỬ HỆ THỐNG</a:t>
            </a:r>
            <a:endParaRPr/>
          </a:p>
        </p:txBody>
      </p:sp>
      <p:sp>
        <p:nvSpPr>
          <p:cNvPr id="484" name="Google Shape;484;p40"/>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8"/>
        <p:cNvGrpSpPr/>
        <p:nvPr/>
      </p:nvGrpSpPr>
      <p:grpSpPr>
        <a:xfrm>
          <a:off x="0" y="0"/>
          <a:ext cx="0" cy="0"/>
          <a:chOff x="0" y="0"/>
          <a:chExt cx="0" cy="0"/>
        </a:xfrm>
      </p:grpSpPr>
      <p:pic>
        <p:nvPicPr>
          <p:cNvPr id="489" name="Google Shape;489;p4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90" name="Google Shape;490;p41" descr="image.png"/>
          <p:cNvPicPr preferRelativeResize="0"/>
          <p:nvPr/>
        </p:nvPicPr>
        <p:blipFill rotWithShape="1">
          <a:blip r:embed="rId4">
            <a:alphaModFix/>
          </a:blip>
          <a:srcRect/>
          <a:stretch/>
        </p:blipFill>
        <p:spPr>
          <a:xfrm>
            <a:off x="762000" y="1400175"/>
            <a:ext cx="10668000" cy="2324100"/>
          </a:xfrm>
          <a:prstGeom prst="rect">
            <a:avLst/>
          </a:prstGeom>
          <a:noFill/>
          <a:ln>
            <a:noFill/>
          </a:ln>
        </p:spPr>
      </p:pic>
      <p:pic>
        <p:nvPicPr>
          <p:cNvPr id="491" name="Google Shape;491;p41" descr="image.png"/>
          <p:cNvPicPr preferRelativeResize="0"/>
          <p:nvPr/>
        </p:nvPicPr>
        <p:blipFill rotWithShape="1">
          <a:blip r:embed="rId5">
            <a:alphaModFix/>
          </a:blip>
          <a:srcRect/>
          <a:stretch/>
        </p:blipFill>
        <p:spPr>
          <a:xfrm>
            <a:off x="762000" y="3962400"/>
            <a:ext cx="10668000" cy="2324100"/>
          </a:xfrm>
          <a:prstGeom prst="rect">
            <a:avLst/>
          </a:prstGeom>
          <a:noFill/>
          <a:ln>
            <a:noFill/>
          </a:ln>
        </p:spPr>
      </p:pic>
      <p:sp>
        <p:nvSpPr>
          <p:cNvPr id="492" name="Google Shape;492;p41"/>
          <p:cNvSpPr txBox="1"/>
          <p:nvPr/>
        </p:nvSpPr>
        <p:spPr>
          <a:xfrm>
            <a:off x="1009650" y="1838325"/>
            <a:ext cx="10172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Kết luận:</a:t>
            </a:r>
            <a:r>
              <a:rPr lang="en-US" sz="1500" b="0" i="0" u="none" strike="noStrike" cap="none">
                <a:solidFill>
                  <a:srgbClr val="334155"/>
                </a:solidFill>
                <a:latin typeface="Open Sans"/>
                <a:ea typeface="Open Sans"/>
                <a:cs typeface="Open Sans"/>
                <a:sym typeface="Open Sans"/>
              </a:rPr>
              <a:t> Hệ thống đã tích hợp thành công AI Agent vào quy trình TMĐT, giúp tự động hóa khâu tư vấn khách hàng và quản trị dữ liệu kinh doanh hiệu quả.</a:t>
            </a:r>
            <a:endParaRPr/>
          </a:p>
        </p:txBody>
      </p:sp>
      <p:sp>
        <p:nvSpPr>
          <p:cNvPr id="493" name="Google Shape;493;p41"/>
          <p:cNvSpPr txBox="1"/>
          <p:nvPr/>
        </p:nvSpPr>
        <p:spPr>
          <a:xfrm>
            <a:off x="1009650" y="4400550"/>
            <a:ext cx="10172700"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Open Sans"/>
                <a:ea typeface="Open Sans"/>
                <a:cs typeface="Open Sans"/>
                <a:sym typeface="Open Sans"/>
              </a:rPr>
              <a:t>Hướng phát triển:</a:t>
            </a:r>
            <a:r>
              <a:rPr lang="en-US" sz="1500" b="0" i="0" u="none" strike="noStrike" cap="none">
                <a:solidFill>
                  <a:srgbClr val="334155"/>
                </a:solidFill>
                <a:latin typeface="Open Sans"/>
                <a:ea typeface="Open Sans"/>
                <a:cs typeface="Open Sans"/>
                <a:sym typeface="Open Sans"/>
              </a:rPr>
              <a:t> Nâng cấp khả năng suy luận đa nhiệm của AI, triển khai hệ thống lên hạ tầng đám mây (AWS/Azure) và tích hợp thêm trợ lý giọng nói.</a:t>
            </a:r>
            <a:endParaRPr/>
          </a:p>
        </p:txBody>
      </p:sp>
      <p:sp>
        <p:nvSpPr>
          <p:cNvPr id="494" name="Google Shape;494;p41"/>
          <p:cNvSpPr txBox="1"/>
          <p:nvPr/>
        </p:nvSpPr>
        <p:spPr>
          <a:xfrm>
            <a:off x="1000125" y="571500"/>
            <a:ext cx="10951368"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1E40AF"/>
                </a:solidFill>
                <a:latin typeface="Montserrat"/>
                <a:ea typeface="Montserrat"/>
                <a:cs typeface="Montserrat"/>
                <a:sym typeface="Montserrat"/>
              </a:rPr>
              <a:t>KẾT LUẬN &amp; HƯỚNG PHÁT TRIỂN</a:t>
            </a:r>
            <a:endParaRPr/>
          </a:p>
        </p:txBody>
      </p:sp>
      <p:sp>
        <p:nvSpPr>
          <p:cNvPr id="495" name="Google Shape;495;p41"/>
          <p:cNvSpPr/>
          <p:nvPr/>
        </p:nvSpPr>
        <p:spPr>
          <a:xfrm>
            <a:off x="762000" y="571500"/>
            <a:ext cx="95250" cy="4000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9"/>
        <p:cNvGrpSpPr/>
        <p:nvPr/>
      </p:nvGrpSpPr>
      <p:grpSpPr>
        <a:xfrm>
          <a:off x="0" y="0"/>
          <a:ext cx="0" cy="0"/>
          <a:chOff x="0" y="0"/>
          <a:chExt cx="0" cy="0"/>
        </a:xfrm>
      </p:grpSpPr>
      <p:pic>
        <p:nvPicPr>
          <p:cNvPr id="500" name="Google Shape;500;p4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501" name="Google Shape;501;p42"/>
          <p:cNvSpPr txBox="1"/>
          <p:nvPr/>
        </p:nvSpPr>
        <p:spPr>
          <a:xfrm>
            <a:off x="762000" y="6296025"/>
            <a:ext cx="20764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Open Sans"/>
                <a:ea typeface="Open Sans"/>
                <a:cs typeface="Open Sans"/>
                <a:sym typeface="Open Sans"/>
              </a:rPr>
              <a:t>© 2026 - Nhóm Đồ Án DCT122C5</a:t>
            </a:r>
            <a:endParaRPr/>
          </a:p>
        </p:txBody>
      </p:sp>
      <p:sp>
        <p:nvSpPr>
          <p:cNvPr id="502" name="Google Shape;502;p42"/>
          <p:cNvSpPr txBox="1"/>
          <p:nvPr/>
        </p:nvSpPr>
        <p:spPr>
          <a:xfrm>
            <a:off x="2828925" y="3341340"/>
            <a:ext cx="6534150" cy="3961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50" b="0" i="0" u="none" strike="noStrike" cap="none">
                <a:solidFill>
                  <a:srgbClr val="475569"/>
                </a:solidFill>
                <a:latin typeface="Open Sans"/>
                <a:ea typeface="Open Sans"/>
                <a:cs typeface="Open Sans"/>
                <a:sym typeface="Open Sans"/>
              </a:rPr>
              <a:t>Nhóm rất mong nhận được câu hỏi và đóng góp từ Thầy.</a:t>
            </a:r>
            <a:endParaRPr/>
          </a:p>
        </p:txBody>
      </p:sp>
      <p:pic>
        <p:nvPicPr>
          <p:cNvPr id="503" name="Google Shape;503;p42" descr="image.png"/>
          <p:cNvPicPr preferRelativeResize="0"/>
          <p:nvPr/>
        </p:nvPicPr>
        <p:blipFill rotWithShape="1">
          <a:blip r:embed="rId4">
            <a:alphaModFix/>
          </a:blip>
          <a:srcRect/>
          <a:stretch/>
        </p:blipFill>
        <p:spPr>
          <a:xfrm>
            <a:off x="5619750" y="1215479"/>
            <a:ext cx="952500" cy="952500"/>
          </a:xfrm>
          <a:prstGeom prst="rect">
            <a:avLst/>
          </a:prstGeom>
          <a:noFill/>
          <a:ln>
            <a:noFill/>
          </a:ln>
        </p:spPr>
      </p:pic>
      <p:sp>
        <p:nvSpPr>
          <p:cNvPr id="504" name="Google Shape;504;p42"/>
          <p:cNvSpPr txBox="1"/>
          <p:nvPr/>
        </p:nvSpPr>
        <p:spPr>
          <a:xfrm>
            <a:off x="4143375" y="4842420"/>
            <a:ext cx="39052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SemiBold"/>
                <a:ea typeface="Open Sans SemiBold"/>
                <a:cs typeface="Open Sans SemiBold"/>
                <a:sym typeface="Open Sans SemiBold"/>
              </a:rPr>
              <a:t>Email: masao20041010@gmail.com</a:t>
            </a:r>
            <a:endParaRPr/>
          </a:p>
        </p:txBody>
      </p:sp>
      <p:sp>
        <p:nvSpPr>
          <p:cNvPr id="505" name="Google Shape;505;p42"/>
          <p:cNvSpPr txBox="1"/>
          <p:nvPr/>
        </p:nvSpPr>
        <p:spPr>
          <a:xfrm>
            <a:off x="4143375" y="5337720"/>
            <a:ext cx="390525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Open Sans SemiBold"/>
                <a:ea typeface="Open Sans SemiBold"/>
                <a:cs typeface="Open Sans SemiBold"/>
                <a:sym typeface="Open Sans SemiBold"/>
              </a:rPr>
              <a:t>Dự án: Raptor Sport E-Commerce Platform</a:t>
            </a:r>
            <a:endParaRPr/>
          </a:p>
        </p:txBody>
      </p:sp>
      <p:sp>
        <p:nvSpPr>
          <p:cNvPr id="506" name="Google Shape;506;p42"/>
          <p:cNvSpPr txBox="1"/>
          <p:nvPr/>
        </p:nvSpPr>
        <p:spPr>
          <a:xfrm>
            <a:off x="2985611" y="2606129"/>
            <a:ext cx="6220777" cy="54471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3900" b="1" i="0" u="none" strike="noStrike" cap="none">
                <a:solidFill>
                  <a:srgbClr val="1E3A8A"/>
                </a:solidFill>
                <a:latin typeface="Montserrat"/>
                <a:ea typeface="Montserrat"/>
                <a:cs typeface="Montserrat"/>
                <a:sym typeface="Montserrat"/>
              </a:rPr>
              <a:t>TRÂN TRỌNG CẢM ƠN!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1684</Words>
  <Application>Microsoft Office PowerPoint</Application>
  <PresentationFormat>Widescreen</PresentationFormat>
  <Paragraphs>186</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Open Sans Medium</vt:lpstr>
      <vt:lpstr>Open Sans SemiBold</vt:lpstr>
      <vt:lpstr>Open Sans</vt:lpstr>
      <vt:lpstr>Arial</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Jelly</dc:creator>
  <cp:lastModifiedBy>Masao Egawa</cp:lastModifiedBy>
  <cp:revision>2</cp:revision>
  <dcterms:modified xsi:type="dcterms:W3CDTF">2026-05-17T08:38:12Z</dcterms:modified>
</cp:coreProperties>
</file>