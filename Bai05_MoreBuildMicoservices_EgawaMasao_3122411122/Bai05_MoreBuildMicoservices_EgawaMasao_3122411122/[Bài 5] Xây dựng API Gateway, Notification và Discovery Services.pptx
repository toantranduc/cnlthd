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Montserrat" panose="00000500000000000000" pitchFamily="2" charset="0"/>
      <p:regular r:id="rId15"/>
      <p:bold r:id="rId16"/>
      <p:italic r:id="rId17"/>
      <p:boldItalic r:id="rId18"/>
    </p:embeddedFont>
    <p:embeddedFont>
      <p:font typeface="Open Sans" panose="020B0606030504020204" pitchFamily="34" charset="0"/>
      <p:regular r:id="rId19"/>
      <p:bold r:id="rId20"/>
      <p:italic r:id="rId21"/>
      <p:boldItalic r:id="rId22"/>
    </p:embeddedFont>
    <p:embeddedFont>
      <p:font typeface="Open Sans SemiBold" panose="020B0706030804020204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D0CEFE0-778E-43EC-ABAC-9687764C82A0}">
  <a:tblStyle styleId="{DD0CEFE0-778E-43EC-ABAC-9687764C82A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70283" y="1658318"/>
            <a:ext cx="11451431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>
                <a:solidFill>
                  <a:srgbClr val="005088"/>
                </a:solidFill>
                <a:latin typeface="+mj-lt"/>
                <a:ea typeface="Montserrat"/>
                <a:cs typeface="Montserrat"/>
                <a:sym typeface="Montserrat"/>
              </a:rPr>
              <a:t>XÂY DỰNG HỆ THỐNG MICROSERVICES</a:t>
            </a:r>
            <a:endParaRPr dirty="0">
              <a:latin typeface="+mj-lt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3719510" y="2747555"/>
            <a:ext cx="47529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64748B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Discovery, Gateway &amp; Notification Services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4452937" y="5027116"/>
            <a:ext cx="3286125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Môn: Các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công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nghệ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lập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trình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hiện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đại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 dirty="0">
                <a:solidFill>
                  <a:srgbClr val="00000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GVHD: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Đỗ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Như Tài | TP.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Hồ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Chí Minh, 03/2026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4" name="Google Shape;94;p14"/>
          <p:cNvGraphicFramePr/>
          <p:nvPr/>
        </p:nvGraphicFramePr>
        <p:xfrm>
          <a:off x="571500" y="2451794"/>
          <a:ext cx="11049000" cy="3021250"/>
        </p:xfrm>
        <a:graphic>
          <a:graphicData uri="http://schemas.openxmlformats.org/drawingml/2006/table">
            <a:tbl>
              <a:tblPr firstRow="1" bandRow="1">
                <a:noFill/>
                <a:tableStyleId>{DD0CEFE0-778E-43EC-ABAC-9687764C82A0}</a:tableStyleId>
              </a:tblPr>
              <a:tblGrid>
                <a:gridCol w="4143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1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3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4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Họ và Tên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MSSV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Trách nhiệm chính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Egawa Masao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3122411122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Xây dựng Notification Service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Lê Phạm Quốc Việt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3122411244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Tổng hợp và viết báo cáo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Nguyễn Trần Trung Thạch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3122411186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Xây dựng Discovery Service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4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Trần Đức Toản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3122411219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Xây dựng API Gateway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5" name="Google Shape;95;p14"/>
          <p:cNvSpPr/>
          <p:nvPr/>
        </p:nvSpPr>
        <p:spPr>
          <a:xfrm>
            <a:off x="571500" y="3658492"/>
            <a:ext cx="41433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4714875" y="3658492"/>
            <a:ext cx="2301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7016650" y="3658492"/>
            <a:ext cx="46038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571500" y="4258567"/>
            <a:ext cx="41433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4714875" y="4258567"/>
            <a:ext cx="2301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7016650" y="4258567"/>
            <a:ext cx="46038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571500" y="4858642"/>
            <a:ext cx="41433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4714875" y="4858642"/>
            <a:ext cx="2301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7016650" y="4858642"/>
            <a:ext cx="46038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571500" y="5458717"/>
            <a:ext cx="41433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4714875" y="5458717"/>
            <a:ext cx="2301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7016650" y="5458717"/>
            <a:ext cx="46038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809625" y="571500"/>
            <a:ext cx="11351418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5088"/>
                </a:solidFill>
                <a:latin typeface="+mn-lt"/>
                <a:ea typeface="Montserrat"/>
                <a:cs typeface="Montserrat"/>
                <a:sym typeface="Montserrat"/>
              </a:rPr>
              <a:t>PHÂN CÔNG </a:t>
            </a:r>
            <a:r>
              <a:rPr lang="en-US" sz="3150" b="1" i="0" u="none" strike="noStrike" cap="none" dirty="0" err="1">
                <a:solidFill>
                  <a:srgbClr val="005088"/>
                </a:solidFill>
                <a:latin typeface="+mn-lt"/>
                <a:ea typeface="Montserrat"/>
                <a:cs typeface="Montserrat"/>
                <a:sym typeface="Montserrat"/>
              </a:rPr>
              <a:t>CÔNG</a:t>
            </a:r>
            <a:r>
              <a:rPr lang="en-US" sz="3150" b="1" i="0" u="none" strike="noStrike" cap="none" dirty="0">
                <a:solidFill>
                  <a:srgbClr val="005088"/>
                </a:solidFill>
                <a:latin typeface="+mn-lt"/>
                <a:ea typeface="Montserrat"/>
                <a:cs typeface="Montserrat"/>
                <a:sym typeface="Montserrat"/>
              </a:rPr>
              <a:t> VIỆC</a:t>
            </a:r>
            <a:endParaRPr dirty="0">
              <a:latin typeface="+mn-lt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/>
          <p:nvPr/>
        </p:nvSpPr>
        <p:spPr>
          <a:xfrm>
            <a:off x="5619750" y="2687984"/>
            <a:ext cx="952500" cy="571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295275" y="2935634"/>
            <a:ext cx="1160145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>
                <a:solidFill>
                  <a:srgbClr val="005088"/>
                </a:solidFill>
                <a:latin typeface="+mn-lt"/>
                <a:ea typeface="Montserrat"/>
                <a:cs typeface="Montserrat"/>
                <a:sym typeface="Montserrat"/>
              </a:rPr>
              <a:t>CHƯƠNG I: DISCOVERY SERVICE</a:t>
            </a:r>
            <a:endParaRPr dirty="0">
              <a:latin typeface="+mn-lt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571500" y="376609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Trung tâm điều phối định danh hệ thống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09825"/>
            <a:ext cx="2500312" cy="291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57562" y="2409825"/>
            <a:ext cx="2500312" cy="291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2695575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857250" y="3143250"/>
            <a:ext cx="2025253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5088"/>
                </a:solidFill>
                <a:latin typeface="+mn-lt"/>
                <a:ea typeface="Montserrat"/>
                <a:cs typeface="Montserrat"/>
                <a:sym typeface="Montserrat"/>
              </a:rPr>
              <a:t>Kho </a:t>
            </a:r>
            <a:r>
              <a:rPr lang="en-US" sz="1800" b="1" i="0" u="none" strike="noStrike" cap="none" dirty="0" err="1">
                <a:solidFill>
                  <a:srgbClr val="005088"/>
                </a:solidFill>
                <a:latin typeface="+mn-lt"/>
                <a:ea typeface="Montserrat"/>
                <a:cs typeface="Montserrat"/>
                <a:sym typeface="Montserrat"/>
              </a:rPr>
              <a:t>lưu</a:t>
            </a:r>
            <a:r>
              <a:rPr lang="en-US" sz="1800" b="1" i="0" u="none" strike="noStrike" cap="none" dirty="0">
                <a:solidFill>
                  <a:srgbClr val="005088"/>
                </a:solidFill>
                <a:latin typeface="+mn-lt"/>
                <a:ea typeface="Montserrat"/>
                <a:cs typeface="Montserrat"/>
                <a:sym typeface="Montserrat"/>
              </a:rPr>
              <a:t> </a:t>
            </a:r>
            <a:r>
              <a:rPr lang="en-US" sz="1800" b="1" i="0" u="none" strike="noStrike" cap="none" dirty="0" err="1">
                <a:solidFill>
                  <a:srgbClr val="005088"/>
                </a:solidFill>
                <a:latin typeface="+mn-lt"/>
                <a:ea typeface="Montserrat"/>
                <a:cs typeface="Montserrat"/>
                <a:sym typeface="Montserrat"/>
              </a:rPr>
              <a:t>trữ</a:t>
            </a:r>
            <a:r>
              <a:rPr lang="en-US" sz="1800" b="1" i="0" u="none" strike="noStrike" cap="none" dirty="0">
                <a:solidFill>
                  <a:srgbClr val="005088"/>
                </a:solidFill>
                <a:latin typeface="+mn-lt"/>
                <a:ea typeface="Montserrat"/>
                <a:cs typeface="Montserrat"/>
                <a:sym typeface="Montserrat"/>
              </a:rPr>
              <a:t> </a:t>
            </a:r>
            <a:r>
              <a:rPr lang="en-US" sz="1800" b="1" i="0" u="none" strike="noStrike" cap="none" dirty="0" err="1">
                <a:solidFill>
                  <a:srgbClr val="005088"/>
                </a:solidFill>
                <a:latin typeface="+mn-lt"/>
                <a:ea typeface="Montserrat"/>
                <a:cs typeface="Montserrat"/>
                <a:sym typeface="Montserrat"/>
              </a:rPr>
              <a:t>tập</a:t>
            </a:r>
            <a:r>
              <a:rPr lang="en-US" sz="1800" b="1" i="0" u="none" strike="noStrike" cap="none" dirty="0">
                <a:solidFill>
                  <a:srgbClr val="005088"/>
                </a:solidFill>
                <a:latin typeface="+mn-lt"/>
                <a:ea typeface="Montserrat"/>
                <a:cs typeface="Montserrat"/>
                <a:sym typeface="Montserrat"/>
              </a:rPr>
              <a:t> </a:t>
            </a:r>
            <a:r>
              <a:rPr lang="en-US" sz="1800" b="1" i="0" u="none" strike="noStrike" cap="none" dirty="0" err="1">
                <a:solidFill>
                  <a:srgbClr val="005088"/>
                </a:solidFill>
                <a:latin typeface="+mn-lt"/>
                <a:ea typeface="Montserrat"/>
                <a:cs typeface="Montserrat"/>
                <a:sym typeface="Montserrat"/>
              </a:rPr>
              <a:t>trung</a:t>
            </a:r>
            <a:endParaRPr dirty="0">
              <a:latin typeface="+mn-lt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857250" y="3886200"/>
            <a:ext cx="19288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Mọi dịch vụ tự động đăng ký thông tin liên lạc khi khởi tạo.</a:t>
            </a:r>
            <a:endParaRPr/>
          </a:p>
        </p:txBody>
      </p:sp>
      <p:pic>
        <p:nvPicPr>
          <p:cNvPr id="127" name="Google Shape;127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43312" y="2695575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3643312" y="3143250"/>
            <a:ext cx="202525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005088"/>
                </a:solidFill>
                <a:latin typeface="+mn-lt"/>
                <a:ea typeface="Montserrat"/>
                <a:cs typeface="Montserrat"/>
                <a:sym typeface="Montserrat"/>
              </a:rPr>
              <a:t>Kết</a:t>
            </a:r>
            <a:r>
              <a:rPr lang="en-US" sz="1800" b="1" i="0" u="none" strike="noStrike" cap="none" dirty="0">
                <a:solidFill>
                  <a:srgbClr val="005088"/>
                </a:solidFill>
                <a:latin typeface="+mn-lt"/>
                <a:ea typeface="Montserrat"/>
                <a:cs typeface="Montserrat"/>
                <a:sym typeface="Montserrat"/>
              </a:rPr>
              <a:t> </a:t>
            </a:r>
            <a:r>
              <a:rPr lang="en-US" sz="1800" b="1" i="0" u="none" strike="noStrike" cap="none" dirty="0" err="1">
                <a:solidFill>
                  <a:srgbClr val="005088"/>
                </a:solidFill>
                <a:latin typeface="+mn-lt"/>
                <a:ea typeface="Montserrat"/>
                <a:cs typeface="Montserrat"/>
                <a:sym typeface="Montserrat"/>
              </a:rPr>
              <a:t>nối</a:t>
            </a:r>
            <a:r>
              <a:rPr lang="en-US" sz="1800" b="1" i="0" u="none" strike="noStrike" cap="none" dirty="0">
                <a:solidFill>
                  <a:srgbClr val="005088"/>
                </a:solidFill>
                <a:latin typeface="+mn-lt"/>
                <a:ea typeface="Montserrat"/>
                <a:cs typeface="Montserrat"/>
                <a:sym typeface="Montserrat"/>
              </a:rPr>
              <a:t> </a:t>
            </a:r>
            <a:r>
              <a:rPr lang="en-US" sz="1800" b="1" i="0" u="none" strike="noStrike" cap="none" dirty="0" err="1">
                <a:solidFill>
                  <a:srgbClr val="005088"/>
                </a:solidFill>
                <a:latin typeface="+mn-lt"/>
                <a:ea typeface="Montserrat"/>
                <a:cs typeface="Montserrat"/>
                <a:sym typeface="Montserrat"/>
              </a:rPr>
              <a:t>linh</a:t>
            </a:r>
            <a:r>
              <a:rPr lang="en-US" sz="1800" b="1" i="0" u="none" strike="noStrike" cap="none" dirty="0">
                <a:solidFill>
                  <a:srgbClr val="005088"/>
                </a:solidFill>
                <a:latin typeface="+mn-lt"/>
                <a:ea typeface="Montserrat"/>
                <a:cs typeface="Montserrat"/>
                <a:sym typeface="Montserrat"/>
              </a:rPr>
              <a:t> </a:t>
            </a:r>
            <a:r>
              <a:rPr lang="en-US" sz="1800" b="1" i="0" u="none" strike="noStrike" cap="none" dirty="0" err="1">
                <a:solidFill>
                  <a:srgbClr val="005088"/>
                </a:solidFill>
                <a:latin typeface="+mn-lt"/>
                <a:ea typeface="Montserrat"/>
                <a:cs typeface="Montserrat"/>
                <a:sym typeface="Montserrat"/>
              </a:rPr>
              <a:t>hoạt</a:t>
            </a:r>
            <a:endParaRPr dirty="0">
              <a:latin typeface="+mn-lt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3643312" y="3886200"/>
            <a:ext cx="19288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Tìm kiếm instance mà không cần biết trước địa chỉ IP vật lý.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762750" y="3048000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Giải quyết vấn đề IP/Port động trong môi trường phân tán.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762750" y="384810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Hỗ trợ cơ chế Cân bằng tải (Load Balancing).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762750" y="434340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Tăng khả năng tự phục hồi của toàn hệ thống.</a:t>
            </a:r>
            <a:endParaRPr/>
          </a:p>
        </p:txBody>
      </p:sp>
      <p:pic>
        <p:nvPicPr>
          <p:cNvPr id="133" name="Google Shape;133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34125" y="30861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34125" y="38862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34125" y="438150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809625" y="571500"/>
            <a:ext cx="11351418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5088"/>
                </a:solidFill>
                <a:latin typeface="+mn-lt"/>
                <a:ea typeface="Montserrat"/>
                <a:cs typeface="Montserrat"/>
                <a:sym typeface="Montserrat"/>
              </a:rPr>
              <a:t>VAI TRÒ CỦA SERVICE DISCOVERY</a:t>
            </a:r>
            <a:endParaRPr dirty="0">
              <a:latin typeface="+mn-lt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6215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9621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1000125" y="280035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Nền tảng: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Spring Cloud Netflix Eureka Server.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1000125" y="329565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Công nghệ: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Java 17 &amp; Spring Boot.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1000125" y="3790950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Cấu hình tối ưu: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Vô hiệu hóa tính năng tự đăng ký và fetch registry cho node đơn.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1000125" y="459105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Cổng tiêu chuẩn: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Vận hành trên port 8761.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809625" y="571500"/>
            <a:ext cx="11351418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5088"/>
                </a:solidFill>
                <a:latin typeface="+mn-lt"/>
                <a:ea typeface="Montserrat"/>
                <a:cs typeface="Montserrat"/>
                <a:sym typeface="Montserrat"/>
              </a:rPr>
              <a:t>CẤU TRÚC KỸ THUẬT EUREKA</a:t>
            </a:r>
            <a:endParaRPr dirty="0">
              <a:latin typeface="+mn-lt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/>
          <p:nvPr/>
        </p:nvSpPr>
        <p:spPr>
          <a:xfrm>
            <a:off x="5619750" y="2687984"/>
            <a:ext cx="952500" cy="571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295275" y="2935634"/>
            <a:ext cx="1160145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005088"/>
                </a:solidFill>
                <a:latin typeface="Montserrat"/>
                <a:ea typeface="Montserrat"/>
                <a:cs typeface="Montserrat"/>
                <a:sym typeface="Montserrat"/>
              </a:rPr>
              <a:t>CHƯƠNG II: API GATEWAY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571500" y="376609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Cửa ngõ trung tâm &amp; Điều phối lưu lượng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00337"/>
            <a:ext cx="3492400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700337"/>
            <a:ext cx="3492549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700337"/>
            <a:ext cx="3492400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2986087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857250" y="3433762"/>
            <a:ext cx="306694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Montserrat"/>
                <a:ea typeface="Montserrat"/>
                <a:cs typeface="Montserrat"/>
                <a:sym typeface="Montserrat"/>
              </a:rPr>
              <a:t>Bảo mật tập trung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857250" y="3900487"/>
            <a:ext cx="2920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Xác thực Token ngay tại cửa ngõ trước khi vào service nội bộ.</a:t>
            </a:r>
            <a:endParaRPr/>
          </a:p>
        </p:txBody>
      </p:sp>
      <p:pic>
        <p:nvPicPr>
          <p:cNvPr id="170" name="Google Shape;170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35400" y="2986087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4635400" y="3433762"/>
            <a:ext cx="30671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Montserrat"/>
                <a:ea typeface="Montserrat"/>
                <a:cs typeface="Montserrat"/>
                <a:sym typeface="Montserrat"/>
              </a:rPr>
              <a:t>Định tuyến động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4635400" y="3900487"/>
            <a:ext cx="29210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Tự động chuyển hướng yêu cầu dựa trên danh sách từ Eureka.</a:t>
            </a:r>
            <a:endParaRPr/>
          </a:p>
        </p:txBody>
      </p:sp>
      <p:pic>
        <p:nvPicPr>
          <p:cNvPr id="173" name="Google Shape;173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13700" y="2986087"/>
            <a:ext cx="2286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8413700" y="3433762"/>
            <a:ext cx="306694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Montserrat"/>
                <a:ea typeface="Montserrat"/>
                <a:cs typeface="Montserrat"/>
                <a:sym typeface="Montserrat"/>
              </a:rPr>
              <a:t>Logging &amp; Filter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8413700" y="3900487"/>
            <a:ext cx="2920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Ghi nhật ký thời gian phản hồi và mã trạng thái toàn cục.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809625" y="571500"/>
            <a:ext cx="11351418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5088"/>
                </a:solidFill>
                <a:latin typeface="Montserrat"/>
                <a:ea typeface="Montserrat"/>
                <a:cs typeface="Montserrat"/>
                <a:sym typeface="Montserrat"/>
              </a:rPr>
              <a:t>API GATEWAY: NGƯỜI GÁC CỔNG</a:t>
            </a:r>
            <a:endParaRPr dirty="0"/>
          </a:p>
        </p:txBody>
      </p:sp>
      <p:sp>
        <p:nvSpPr>
          <p:cNvPr id="177" name="Google Shape;177;p19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571500" y="1838325"/>
            <a:ext cx="52006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ontserrat"/>
                <a:ea typeface="Montserrat"/>
                <a:cs typeface="Montserrat"/>
                <a:sym typeface="Montserrat"/>
              </a:rPr>
              <a:t>CƠ CHẾ ĐỊNH TUYẾN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571500" y="29051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Sử dụng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Spring Cloud Gateway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với Project Reactor để xử lý bất đồng bộ.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571500" y="3895725"/>
            <a:ext cx="4953000" cy="93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Kết nối trực tiếp với Discovery Service để lấy Metadata của dịch vụ. Ví dụ: Đường dẫn /api/product/** sẽ tự động trỏ đến PRODUCT-SERVICE.</a:t>
            </a:r>
            <a:endParaRPr/>
          </a:p>
        </p:txBody>
      </p:sp>
      <p:pic>
        <p:nvPicPr>
          <p:cNvPr id="186" name="Google Shape;18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/>
          <p:nvPr/>
        </p:nvSpPr>
        <p:spPr>
          <a:xfrm>
            <a:off x="5619750" y="2687984"/>
            <a:ext cx="952500" cy="571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295275" y="2935634"/>
            <a:ext cx="1160145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>
                <a:solidFill>
                  <a:srgbClr val="005088"/>
                </a:solidFill>
                <a:latin typeface="Montserrat"/>
                <a:ea typeface="Montserrat"/>
                <a:cs typeface="Montserrat"/>
                <a:sym typeface="Montserrat"/>
              </a:rPr>
              <a:t>CHƯƠNG III: NOTIFICATION SERVICE</a:t>
            </a:r>
            <a:endParaRPr dirty="0"/>
          </a:p>
        </p:txBody>
      </p:sp>
      <p:sp>
        <p:nvSpPr>
          <p:cNvPr id="194" name="Google Shape;194;p21"/>
          <p:cNvSpPr txBox="1"/>
          <p:nvPr/>
        </p:nvSpPr>
        <p:spPr>
          <a:xfrm>
            <a:off x="571500" y="376609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Giao tiếp hướng sự kiện qua Apache Kafka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6215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9621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2"/>
          <p:cNvSpPr txBox="1"/>
          <p:nvPr/>
        </p:nvSpPr>
        <p:spPr>
          <a:xfrm>
            <a:off x="6762750" y="233838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Apache Kafka: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Nền tảng truyền tin sự kiện hiệu suất cao.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6762750" y="313848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Loosely Coupled: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Các dịch vụ độc lập, không cần gọi trực tiếp lẫn nhau.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6762750" y="393858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Khả năng chịu tải: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Xử lý thông báo không làm chậm luồng đặt hàng chính.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6762750" y="4738687"/>
            <a:ext cx="48577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NotificationListener: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Đăng ký vào notificationTopic để nhận bản tin JSON.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809625" y="571500"/>
            <a:ext cx="11351418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ontserrat"/>
                <a:ea typeface="Montserrat"/>
                <a:cs typeface="Montserrat"/>
                <a:sym typeface="Montserrat"/>
              </a:rPr>
              <a:t>MÔ HÌNH EVENT-DRIVEN</a:t>
            </a:r>
            <a:endParaRPr/>
          </a:p>
        </p:txBody>
      </p:sp>
      <p:sp>
        <p:nvSpPr>
          <p:cNvPr id="207" name="Google Shape;207;p22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648325"/>
            <a:ext cx="5381625" cy="132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5648325"/>
            <a:ext cx="5381625" cy="132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447800"/>
            <a:ext cx="11049000" cy="552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3"/>
          <p:cNvSpPr txBox="1"/>
          <p:nvPr/>
        </p:nvSpPr>
        <p:spPr>
          <a:xfrm>
            <a:off x="714375" y="5981700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Micrometer &amp; Zipkin: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Sử dụng Trace ID để theo dõi hành trình yêu cầu xuyên qua các Microservices.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6381750" y="5981700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Prometheus &amp; Grafana: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Giám sát các chỉ số sống còn (Heap, Latency, Throughput).</a:t>
            </a:r>
            <a:endParaRPr/>
          </a:p>
        </p:txBody>
      </p:sp>
      <p:sp>
        <p:nvSpPr>
          <p:cNvPr id="218" name="Google Shape;218;p23"/>
          <p:cNvSpPr txBox="1"/>
          <p:nvPr/>
        </p:nvSpPr>
        <p:spPr>
          <a:xfrm>
            <a:off x="809625" y="571500"/>
            <a:ext cx="11351418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ontserrat"/>
                <a:ea typeface="Montserrat"/>
                <a:cs typeface="Montserrat"/>
                <a:sym typeface="Montserrat"/>
              </a:rPr>
              <a:t>GIÁM SÁT &amp; TRUY VẾT HỆ THỐNG</a:t>
            </a:r>
            <a:endParaRPr/>
          </a:p>
        </p:txBody>
      </p:sp>
      <p:sp>
        <p:nvSpPr>
          <p:cNvPr id="219" name="Google Shape;219;p23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4"/>
          <p:cNvSpPr txBox="1"/>
          <p:nvPr/>
        </p:nvSpPr>
        <p:spPr>
          <a:xfrm>
            <a:off x="3950731" y="2006054"/>
            <a:ext cx="4290536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5088"/>
                </a:solidFill>
                <a:latin typeface="Montserrat"/>
                <a:ea typeface="Montserrat"/>
                <a:cs typeface="Montserrat"/>
                <a:sym typeface="Montserrat"/>
              </a:rPr>
              <a:t>TỔNG KẾT</a:t>
            </a:r>
            <a:endParaRPr/>
          </a:p>
        </p:txBody>
      </p:sp>
      <p:sp>
        <p:nvSpPr>
          <p:cNvPr id="226" name="Google Shape;226;p24"/>
          <p:cNvSpPr txBox="1"/>
          <p:nvPr/>
        </p:nvSpPr>
        <p:spPr>
          <a:xfrm>
            <a:off x="2286000" y="3120479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Hệ thống đã thiết lập nền tảng hạ tầng vững chắc, sẵn sàng cho việc mở rộng và triển khai thực tế trên môi trường Cloud.</a:t>
            </a:r>
            <a:endParaRPr/>
          </a:p>
        </p:txBody>
      </p:sp>
      <p:sp>
        <p:nvSpPr>
          <p:cNvPr id="227" name="Google Shape;227;p24"/>
          <p:cNvSpPr txBox="1"/>
          <p:nvPr/>
        </p:nvSpPr>
        <p:spPr>
          <a:xfrm>
            <a:off x="3371850" y="4461420"/>
            <a:ext cx="5448300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195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5088"/>
                </a:solidFill>
                <a:latin typeface="Open Sans"/>
                <a:ea typeface="Open Sans"/>
                <a:cs typeface="Open Sans"/>
                <a:sym typeface="Open Sans"/>
              </a:rPr>
              <a:t>Cảm ơn thầy và các bạn đã lắng nghe!</a:t>
            </a:r>
            <a:endParaRPr/>
          </a:p>
        </p:txBody>
      </p:sp>
      <p:pic>
        <p:nvPicPr>
          <p:cNvPr id="228" name="Google Shape;228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71850" y="4518570"/>
            <a:ext cx="3619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507</Words>
  <Application>Microsoft Office PowerPoint</Application>
  <PresentationFormat>Widescreen</PresentationFormat>
  <Paragraphs>59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Open Sans</vt:lpstr>
      <vt:lpstr>Open Sans SemiBold</vt:lpstr>
      <vt:lpstr>Arial</vt:lpstr>
      <vt:lpstr>Calibri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Masao Egawa</cp:lastModifiedBy>
  <cp:revision>2</cp:revision>
  <dcterms:modified xsi:type="dcterms:W3CDTF">2026-03-22T06:40:21Z</dcterms:modified>
</cp:coreProperties>
</file>